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49377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-548640"/>
            <a:ext cx="4389120" cy="4389120"/>
          </a:xfrm>
          <a:prstGeom prst="ellipse">
            <a:avLst/>
          </a:prstGeom>
          <a:solidFill>
            <a:srgbClr val="7E3654"/>
          </a:solidFill>
          <a:ln w="12700">
            <a:solidFill>
              <a:srgbClr val="7E36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69864" y="420624"/>
            <a:ext cx="3182112" cy="3959352"/>
          </a:xfrm>
          <a:prstGeom prst="rect">
            <a:avLst/>
          </a:prstGeom>
          <a:solidFill>
            <a:srgbClr val="F3D3DF"/>
          </a:solidFill>
          <a:ln w="12700">
            <a:solidFill>
              <a:srgbClr val="F3D3DF"/>
            </a:solidFill>
            <a:prstDash val="solid"/>
          </a:ln>
        </p:spPr>
      </p:sp>
      <p:pic>
        <p:nvPicPr>
          <p:cNvPr id="4" name="Image 0" descr="/tmp/claude-0/-home-claude/0f6f79f4-524c-52dc-a6cd-3191363a22d6/scratchpad/p3/a_fa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457200"/>
            <a:ext cx="3108960" cy="3886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806440" y="44348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Изображение создано ИИ</a:t>
            </a:r>
            <a:endParaRPr lang="en-US" sz="9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640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Знакомьтесь: Айгерим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974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3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Демо-клиентка Aru. На ней мы показываем, как работает личный стилист, — без чужих фото и уговоров.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лет, Алматы, рост 165 см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она</a:t>
            </a:r>
            <a:endParaRPr lang="en-US" sz="2800" dirty="0"/>
          </a:p>
        </p:txBody>
      </p:sp>
      <p:pic>
        <p:nvPicPr>
          <p:cNvPr id="3" name="Image 0" descr="/home/claude/aru/demo/photos/aigerim-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645920" cy="358444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514600" y="109728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651760" y="12070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лет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663440" y="109728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00600" y="120700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Город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Алматы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14600" y="196596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51760" y="20756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Менеджер по клиентам в банке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96596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00600" y="207568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 см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514600" y="283464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51760" y="294436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(S–M)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63440" y="2834640"/>
            <a:ext cx="2011680" cy="731520"/>
          </a:xfrm>
          <a:prstGeom prst="roundRect">
            <a:avLst>
              <a:gd name="adj" fmla="val 15000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00600" y="294436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Фигура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Часы: 88–70–96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903720" y="1097280"/>
            <a:ext cx="1691640" cy="2468880"/>
          </a:xfrm>
          <a:prstGeom prst="roundRect">
            <a:avLst>
              <a:gd name="adj" fmla="val 64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40880" y="1234440"/>
            <a:ext cx="1463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«Покупаю чёрное, потому что это безопасно, а на фото выгляжу уставшей. Хочу гардероб для офиса и на той».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2514600" y="379476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Её цель: </a:t>
            </a:r>
            <a:pPr indent="0" marL="0">
              <a:buNone/>
            </a:pPr>
            <a:r>
              <a:rPr lang="en-US" sz="14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понять, что ей идёт, и перестать покупать вещи, которые потом не носит.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Её внешность</a:t>
            </a:r>
            <a:endParaRPr lang="en-US" sz="2800" dirty="0"/>
          </a:p>
        </p:txBody>
      </p:sp>
      <p:pic>
        <p:nvPicPr>
          <p:cNvPr id="3" name="Image 0" descr="/tmp/claude-0/-home-claude/0f6f79f4-524c-52dc-a6cd-3191363a22d6/scratchpad/p3/a_t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2743200" cy="3429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11880" y="1143000"/>
            <a:ext cx="347472" cy="347472"/>
          </a:xfrm>
          <a:prstGeom prst="ellipse">
            <a:avLst/>
          </a:prstGeom>
          <a:solidFill>
            <a:srgbClr val="E3B58E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114800" y="11155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Кожа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Медово-бежевая, золотистый подтон, легко загорает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611880" y="1691640"/>
            <a:ext cx="347472" cy="347472"/>
          </a:xfrm>
          <a:prstGeom prst="ellipse">
            <a:avLst/>
          </a:prstGeom>
          <a:solidFill>
            <a:srgbClr val="4A2A1A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0" y="16642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Волосы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Тёплый тёмный каштан, прямые, ниже плеч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11880" y="2240280"/>
            <a:ext cx="347472" cy="347472"/>
          </a:xfrm>
          <a:prstGeom prst="ellipse">
            <a:avLst/>
          </a:prstGeom>
          <a:solidFill>
            <a:srgbClr val="8A5A2B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0" y="22128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Глаза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Карие, тёплые, миндалевидный разрез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611880" y="2788920"/>
            <a:ext cx="347472" cy="347472"/>
          </a:xfrm>
          <a:prstGeom prst="ellipse">
            <a:avLst/>
          </a:prstGeom>
          <a:solidFill>
            <a:srgbClr val="3A2116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0" y="27614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Брови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Тёмно-каштановые, мягкая дуга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11880" y="3337560"/>
            <a:ext cx="347472" cy="347472"/>
          </a:xfrm>
          <a:prstGeom prst="ellipse">
            <a:avLst/>
          </a:prstGeom>
          <a:solidFill>
            <a:srgbClr val="B0605A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114800" y="33101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Губы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Естественный цвет тёплой розы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611880" y="3886200"/>
            <a:ext cx="347472" cy="347472"/>
          </a:xfrm>
          <a:prstGeom prst="ellipse">
            <a:avLst/>
          </a:prstGeom>
          <a:solidFill>
            <a:srgbClr val="CFAF6E"/>
          </a:solidFill>
          <a:ln w="9525">
            <a:solidFill>
              <a:srgbClr val="DDCC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0" y="38587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 тепла 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Вены на запястье зеленоватые, золото идёт больше серебра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611880" y="44348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Лицо: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овальное, высокие скулы.  </a:t>
            </a:r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Контраст: </a:t>
            </a:r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Её ответы в анкете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62456"/>
            <a:ext cx="530352" cy="530352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412" y="1500348"/>
            <a:ext cx="254569" cy="2545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25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Возраст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26–35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17720" y="1143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00600" y="1362456"/>
            <a:ext cx="530352" cy="530352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492" y="1500348"/>
            <a:ext cx="254569" cy="25456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0" y="1325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 см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2286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31520" y="2505456"/>
            <a:ext cx="530352" cy="530352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412" y="2643348"/>
            <a:ext cx="254569" cy="2545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2468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бывает чаще всего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Офис, мероприятия, путешествия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617720" y="2286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00600" y="2505456"/>
            <a:ext cx="530352" cy="530352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492" y="2643348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486400" y="2468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на одну вещь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$30–100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48640" y="3429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31520" y="3648456"/>
            <a:ext cx="530352" cy="530352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412" y="3786348"/>
            <a:ext cx="254569" cy="254569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417320" y="3611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нравится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Классика, минимализм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617720" y="342900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800600" y="3648456"/>
            <a:ext cx="530352" cy="530352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8492" y="3786348"/>
            <a:ext cx="254569" cy="254569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486400" y="361188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не наденет</a:t>
            </a:r>
            <a:endParaRPr lang="en-US" sz="1200" dirty="0"/>
          </a:p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Мини-юбки, крупный яркий принт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Эти же ответы подставляются в прототип одной кнопкой «Показать на демо-клиентке Айгерим».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покажет ей Aru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931920" cy="1828800"/>
          </a:xfrm>
          <a:prstGeom prst="roundRect">
            <a:avLst>
              <a:gd name="adj" fmla="val 6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D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Цветотип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4813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Тёмная осень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77240" y="2240280"/>
            <a:ext cx="216713" cy="411480"/>
          </a:xfrm>
          <a:prstGeom prst="rect">
            <a:avLst/>
          </a:prstGeom>
          <a:solidFill>
            <a:srgbClr val="C19A6B"/>
          </a:solidFill>
          <a:ln w="12700">
            <a:solidFill>
              <a:srgbClr val="C19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3953" y="2240280"/>
            <a:ext cx="216713" cy="411480"/>
          </a:xfrm>
          <a:prstGeom prst="rect">
            <a:avLst/>
          </a:prstGeom>
          <a:solidFill>
            <a:srgbClr val="C66B4E"/>
          </a:solidFill>
          <a:ln w="12700">
            <a:solidFill>
              <a:srgbClr val="C66B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0666" y="2240280"/>
            <a:ext cx="216713" cy="411480"/>
          </a:xfrm>
          <a:prstGeom prst="rect">
            <a:avLst/>
          </a:prstGeom>
          <a:solidFill>
            <a:srgbClr val="808A54"/>
          </a:solidFill>
          <a:ln w="12700">
            <a:solidFill>
              <a:srgbClr val="808A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27378" y="2240280"/>
            <a:ext cx="216713" cy="411480"/>
          </a:xfrm>
          <a:prstGeom prst="rect">
            <a:avLst/>
          </a:prstGeom>
          <a:solidFill>
            <a:srgbClr val="9CAF88"/>
          </a:solidFill>
          <a:ln w="12700">
            <a:solidFill>
              <a:srgbClr val="9CAF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4091" y="2240280"/>
            <a:ext cx="216713" cy="411480"/>
          </a:xfrm>
          <a:prstGeom prst="rect">
            <a:avLst/>
          </a:prstGeom>
          <a:solidFill>
            <a:srgbClr val="3F7F7A"/>
          </a:solidFill>
          <a:ln w="12700">
            <a:solidFill>
              <a:srgbClr val="3F7F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60804" y="2240280"/>
            <a:ext cx="216713" cy="411480"/>
          </a:xfrm>
          <a:prstGeom prst="rect">
            <a:avLst/>
          </a:prstGeom>
          <a:solidFill>
            <a:srgbClr val="A85A3B"/>
          </a:solidFill>
          <a:ln w="12700">
            <a:solidFill>
              <a:srgbClr val="A85A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77517" y="2240280"/>
            <a:ext cx="216713" cy="411480"/>
          </a:xfrm>
          <a:prstGeom prst="rect">
            <a:avLst/>
          </a:prstGeom>
          <a:solidFill>
            <a:srgbClr val="C9A43A"/>
          </a:solidFill>
          <a:ln w="12700">
            <a:solidFill>
              <a:srgbClr val="C9A4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94230" y="2240280"/>
            <a:ext cx="216713" cy="411480"/>
          </a:xfrm>
          <a:prstGeom prst="rect">
            <a:avLst/>
          </a:prstGeom>
          <a:solidFill>
            <a:srgbClr val="E8A982"/>
          </a:solidFill>
          <a:ln w="12700">
            <a:solidFill>
              <a:srgbClr val="E8A98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0942" y="2240280"/>
            <a:ext cx="216713" cy="411480"/>
          </a:xfrm>
          <a:prstGeom prst="rect">
            <a:avLst/>
          </a:prstGeom>
          <a:solidFill>
            <a:srgbClr val="D8C3A5"/>
          </a:solidFill>
          <a:ln w="12700">
            <a:solidFill>
              <a:srgbClr val="D8C3A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27655" y="2240280"/>
            <a:ext cx="216713" cy="411480"/>
          </a:xfrm>
          <a:prstGeom prst="rect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44368" y="2240280"/>
            <a:ext cx="216713" cy="411480"/>
          </a:xfrm>
          <a:prstGeom prst="rect">
            <a:avLst/>
          </a:prstGeom>
          <a:solidFill>
            <a:srgbClr val="6E7B4A"/>
          </a:solidFill>
          <a:ln w="12700">
            <a:solidFill>
              <a:srgbClr val="6E7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1081" y="2240280"/>
            <a:ext cx="216713" cy="411480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77794" y="2240280"/>
            <a:ext cx="216713" cy="411480"/>
          </a:xfrm>
          <a:prstGeom prst="rect">
            <a:avLst/>
          </a:prstGeom>
          <a:solidFill>
            <a:srgbClr val="D98B74"/>
          </a:solidFill>
          <a:ln w="12700">
            <a:solidFill>
              <a:srgbClr val="D98B7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94506" y="2240280"/>
            <a:ext cx="216713" cy="411480"/>
          </a:xfrm>
          <a:prstGeom prst="rect">
            <a:avLst/>
          </a:prstGeom>
          <a:solidFill>
            <a:srgbClr val="8C4A4A"/>
          </a:solidFill>
          <a:ln w="12700">
            <a:solidFill>
              <a:srgbClr val="8C4A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1219" y="2240280"/>
            <a:ext cx="216713" cy="411480"/>
          </a:xfrm>
          <a:prstGeom prst="rect">
            <a:avLst/>
          </a:prstGeom>
          <a:solidFill>
            <a:srgbClr val="9E8B78"/>
          </a:solidFill>
          <a:ln w="12700">
            <a:solidFill>
              <a:srgbClr val="9E8B7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7932" y="2240280"/>
            <a:ext cx="216713" cy="411480"/>
          </a:xfrm>
          <a:prstGeom prst="rect">
            <a:avLst/>
          </a:prstGeom>
          <a:solidFill>
            <a:srgbClr val="CFAF6E"/>
          </a:solidFill>
          <a:ln w="12700">
            <a:solidFill>
              <a:srgbClr val="CFAF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1143000"/>
            <a:ext cx="457200" cy="457200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3752" y="1261872"/>
            <a:ext cx="219456" cy="21945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349240" y="10972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Причёска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Мягкие волны ниже плеч; оттенок — тёплый тёмный каштан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754880" y="1874520"/>
            <a:ext cx="457200" cy="457200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1993392"/>
            <a:ext cx="219456" cy="219456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349240" y="1828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Фигура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Песочные часы: подчёркиваем талию — платье-запах, пояс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4754880" y="2606040"/>
            <a:ext cx="457200" cy="457200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752" y="2724912"/>
            <a:ext cx="219456" cy="219456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5349240" y="25603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Вместо чёрного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Шоколад; вместо белого — тёплый беж; металл — золото</a:t>
            </a:r>
            <a:endParaRPr lang="en-US" sz="1250" dirty="0"/>
          </a:p>
        </p:txBody>
      </p:sp>
      <p:sp>
        <p:nvSpPr>
          <p:cNvPr id="31" name="Shape 26"/>
          <p:cNvSpPr/>
          <p:nvPr/>
        </p:nvSpPr>
        <p:spPr>
          <a:xfrm>
            <a:off x="4754880" y="3337560"/>
            <a:ext cx="457200" cy="457200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3456432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5349240" y="32918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 на работу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Жакет шоколад, блуза горчица, брюки олива, бежевые лодочки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4754880" y="4069080"/>
            <a:ext cx="457200" cy="457200"/>
          </a:xfrm>
          <a:prstGeom prst="ellipse">
            <a:avLst/>
          </a:prstGeom>
          <a:solidFill>
            <a:srgbClr val="C2456E"/>
          </a:solidFill>
          <a:ln w="12700">
            <a:solidFill>
              <a:srgbClr val="C2456E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4187952"/>
            <a:ext cx="219456" cy="219456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534924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 на той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Платье миди марсала, туфли цвета мягкого золота</a:t>
            </a:r>
            <a:endParaRPr lang="en-US" sz="1250" dirty="0"/>
          </a:p>
        </p:txBody>
      </p:sp>
      <p:sp>
        <p:nvSpPr>
          <p:cNvPr id="37" name="Shape 30"/>
          <p:cNvSpPr/>
          <p:nvPr/>
        </p:nvSpPr>
        <p:spPr>
          <a:xfrm>
            <a:off x="548640" y="310896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31520" y="324612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увидеть вживую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Лендинг Aru → «Посмотрите, как это работает» → Айгерим → кнопка «Как было / Как стало».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Её образы: как было и как стало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CEFD9"/>
          </a:solidFill>
          <a:ln w="12700">
            <a:solidFill>
              <a:srgbClr val="FCEFD9"/>
            </a:solidFill>
            <a:prstDash val="solid"/>
          </a:ln>
        </p:spPr>
      </p:sp>
      <p:pic>
        <p:nvPicPr>
          <p:cNvPr id="4" name="Image 0" descr="/tmp/claude-0/-home-claude/0f6f79f4-524c-52dc-a6cd-3191363a22d6/scratchpad/p3/a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2267712" cy="1508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35808" y="1261872"/>
            <a:ext cx="13533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A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было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Серый трикотаж, тёмные брюки — лицо выглядит тусклее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663440" y="109728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pic>
        <p:nvPicPr>
          <p:cNvPr id="7" name="Image 1" descr="/tmp/claude-0/-home-claude/0f6f79f4-524c-52dc-a6cd-3191363a22d6/scratchpad/p3/a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2267712" cy="1508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150608" y="1261872"/>
            <a:ext cx="13533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Жакет шоколад, блуза горчица, брюки олива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292608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pic>
        <p:nvPicPr>
          <p:cNvPr id="10" name="Image 2" descr="/tmp/claude-0/-home-claude/0f6f79f4-524c-52dc-a6cd-3191363a22d6/scratchpad/p3/a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2267712" cy="1508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035808" y="3090672"/>
            <a:ext cx="13533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Платье миди марсала, золотые украшения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663440" y="292608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7E6EC"/>
          </a:solidFill>
          <a:ln w="12700">
            <a:solidFill>
              <a:srgbClr val="F7E6EC"/>
            </a:solidFill>
            <a:prstDash val="solid"/>
          </a:ln>
        </p:spPr>
      </p:sp>
      <p:pic>
        <p:nvPicPr>
          <p:cNvPr id="13" name="Image 3" descr="/tmp/claude-0/-home-claude/0f6f79f4-524c-52dc-a6cd-3191363a22d6/scratchpad/p3/aw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017520"/>
            <a:ext cx="2267712" cy="1508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0608" y="3090672"/>
            <a:ext cx="13533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Выходной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2B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Свитер терракота, шарф цвета хвои, тёмный деним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Примерка сделана в Gemini по исходному фото: лицо, фигура и фон сохранены. Изображения созданы ИИ.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4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u">
  <a:themeElements>
    <a:clrScheme name="Aru">
      <a:dk1>
        <a:srgbClr val="2B1A22"/>
      </a:dk1>
      <a:lt1>
        <a:srgbClr val="FFFFFF"/>
      </a:lt1>
      <a:dk2>
        <a:srgbClr val="6D2E46"/>
      </a:dk2>
      <a:lt2>
        <a:srgbClr val="F7E6EC"/>
      </a:lt2>
      <a:accent1>
        <a:srgbClr val="C2456E"/>
      </a:accent1>
      <a:accent2>
        <a:srgbClr val="6D2E46"/>
      </a:accent2>
      <a:accent3>
        <a:srgbClr val="D9A441"/>
      </a:accent3>
      <a:accent4>
        <a:srgbClr val="A26769"/>
      </a:accent4>
      <a:accent5>
        <a:srgbClr val="8E6C88"/>
      </a:accent5>
      <a:accent6>
        <a:srgbClr val="3E8A68"/>
      </a:accent6>
      <a:hlink>
        <a:srgbClr val="C2456E"/>
      </a:hlink>
      <a:folHlink>
        <a:srgbClr val="6D2E46"/>
      </a:folHlink>
    </a:clrScheme>
    <a:fontScheme name="Aru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Aru — демо-клиентка Айгерим</dc:title>
  <dc:subject>PptxGenJS Presentation</dc:subject>
  <dc:creator>Aru</dc:creator>
  <cp:lastModifiedBy>Aru</cp:lastModifiedBy>
  <cp:revision>1</cp:revision>
  <dcterms:created xsi:type="dcterms:W3CDTF">2026-10-23T18:12:37Z</dcterms:created>
  <dcterms:modified xsi:type="dcterms:W3CDTF">2026-10-23T18:12:37Z</dcterms:modified>
</cp:coreProperties>
</file>