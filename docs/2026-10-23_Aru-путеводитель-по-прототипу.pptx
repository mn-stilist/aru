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48463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548640" y="48006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Путеводитель по Aru  ·  прототип v0.3  ·  23.10.2026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OT">
    <p:bg>
      <p:bgPr>
        <a:solidFill>
          <a:srgbClr val="FB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46120" y="48006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Путеводитель по Aru  ·  прототип v0.3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mn-stilist.github.io/aru/app/" TargetMode="External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mn-stilist.github.io/aru/landing/" TargetMode="External"/><Relationship Id="rId4" Type="http://schemas.openxmlformats.org/officeDocument/2006/relationships/hyperlink" Target="https://mn-stilist.github.io/aru/app/" TargetMode="External"/><Relationship Id="rId1" Type="http://schemas.openxmlformats.org/officeDocument/2006/relationships/image" Target="../media/image-2-1.png"/><Relationship Id="rId3" Type="http://schemas.openxmlformats.org/officeDocument/2006/relationships/image" Target="../media/image-2-2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image" Target="../media/image-35-5.png"/><Relationship Id="rId6" Type="http://schemas.openxmlformats.org/officeDocument/2006/relationships/image" Target="../media/image-3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Путеводитель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82296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Aru: прототип кадр за кадром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3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Куда нажимать, что откроется и что это значит — на каждом экране цифры и стрелки.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404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Открыть прототип: </a:t>
            </a:r>
            <a:pPr indent="0" marL="0">
              <a:buNone/>
            </a:pPr>
            <a:r>
              <a:rPr lang="en-US" sz="1300" b="1" u="sng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mn-stilist.github.io/aru/app/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519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9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Версия путеводителя 1  ·  23 октября 2026  ·  прототип v0.3</a:t>
            </a:r>
            <a:endParaRPr lang="en-US" sz="1200" dirty="0"/>
          </a:p>
        </p:txBody>
      </p:sp>
      <p:pic>
        <p:nvPicPr>
          <p:cNvPr id="7" name="Image 0" descr="/tmp/claude-0/-home-claude/0f6f79f4-524c-52dc-a6cd-3191363a22d6/scratchpad/framed/new_look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0701" y="320040"/>
            <a:ext cx="2168998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Две страницы проекта — не путать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 открываются в браузере, но у каждой своя задача.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4846320" cy="3383280"/>
          </a:xfrm>
          <a:prstGeom prst="roundRect">
            <a:avLst>
              <a:gd name="adj" fmla="val 2703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1522476" cy="274320"/>
          </a:xfrm>
          <a:prstGeom prst="roundRect">
            <a:avLst>
              <a:gd name="adj" fmla="val 50000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15224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ЛЕНДИНГ — реклама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133856" y="1783080"/>
            <a:ext cx="3675888" cy="2066544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8" name="Image 0" descr="/tmp/claude-0/-home-claude/0f6f79f4-524c-52dc-a6cd-3191363a22d6/scratchpad/hero_n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1810512"/>
            <a:ext cx="3621024" cy="20116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31520" y="3913632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Рассказывает и продаёт. </a:t>
            </a:r>
            <a:pPr indent="0" marL="0">
              <a:buNone/>
            </a:pPr>
            <a:r>
              <a:rPr lang="en-US" sz="12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Здесь кнопка «Купить» и пример превращения.</a:t>
            </a:r>
            <a:endParaRPr lang="en-US" sz="1200" dirty="0"/>
          </a:p>
          <a:p>
            <a:pPr indent="0" marL="0">
              <a:buNone/>
            </a:pPr>
            <a:r>
              <a:rPr lang="en-US" sz="1200" u="sng" dirty="0">
                <a:solidFill>
                  <a:srgbClr val="C2456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mn-stilist.github.io/aru/landing/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577840" y="1280160"/>
            <a:ext cx="3017520" cy="3383280"/>
          </a:xfrm>
          <a:prstGeom prst="roundRect">
            <a:avLst>
              <a:gd name="adj" fmla="val 3030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60720" y="1417320"/>
            <a:ext cx="1833372" cy="274320"/>
          </a:xfrm>
          <a:prstGeom prst="roundRect">
            <a:avLst>
              <a:gd name="adj" fmla="val 50000"/>
            </a:avLst>
          </a:prstGeom>
          <a:solidFill>
            <a:srgbClr val="3E8A68"/>
          </a:solidFill>
          <a:ln w="12700">
            <a:solidFill>
              <a:srgbClr val="3E8A6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760720" y="1417320"/>
            <a:ext cx="18333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 — приложение</a:t>
            </a:r>
            <a:endParaRPr lang="en-US" sz="1050" dirty="0"/>
          </a:p>
        </p:txBody>
      </p:sp>
      <p:pic>
        <p:nvPicPr>
          <p:cNvPr id="13" name="Image 1" descr="/tmp/claude-0/-home-claude/0f6f79f4-524c-52dc-a6cd-3191363a22d6/scratchpad/framed/new_ho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9682" y="1810512"/>
            <a:ext cx="973836" cy="20116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760720" y="391363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E8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Этим пользуется клиентка. </a:t>
            </a:r>
            <a:pPr indent="0" marL="0">
              <a:buNone/>
            </a:pPr>
            <a:r>
              <a:rPr lang="en-US" sz="12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Этот путеводитель — о нём.</a:t>
            </a:r>
            <a:endParaRPr lang="en-US" sz="1200" dirty="0"/>
          </a:p>
          <a:p>
            <a:pPr indent="0" marL="0">
              <a:buNone/>
            </a:pPr>
            <a:r>
              <a:rPr lang="en-US" sz="1200" u="sng" dirty="0">
                <a:solidFill>
                  <a:srgbClr val="C2456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mn-stilist.github.io/aru/app/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выглядит прототип на компьютере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21208" y="1138428"/>
            <a:ext cx="5175504" cy="3255264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4" name="Image 0" descr="/tmp/claude-0/-home-claude/0f6f79f4-524c-52dc-a6cd-3191363a22d6/scratchpad/guide/desk_an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65860"/>
            <a:ext cx="512064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97880" y="1051560"/>
            <a:ext cx="365760" cy="365760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897880" y="1051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0" y="1014984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Подсказки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на компьютере: что попробовать при показе. На телефоне этой колонки нет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897880" y="1920240"/>
            <a:ext cx="365760" cy="365760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89788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400800" y="1883664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Телефон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и есть приложение. Нажимайте мышкой, листайте колёсиком, наведя курсор внутрь телефона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897880" y="2788920"/>
            <a:ext cx="365760" cy="365760"/>
          </a:xfrm>
          <a:prstGeom prst="ellipse">
            <a:avLst/>
          </a:prstGeom>
          <a:solidFill>
            <a:srgbClr val="D9A44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89788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0" y="2752344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Старая версия?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Нажмите Ctrl + F5 — браузер загрузит свежую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897880" y="3657600"/>
            <a:ext cx="365760" cy="365760"/>
          </a:xfrm>
          <a:prstGeom prst="ellipse">
            <a:avLst/>
          </a:prstGeom>
          <a:solidFill>
            <a:srgbClr val="D9A44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9788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0" y="3621024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телефоне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Откройте ту же ссылку — приложение займёт весь экран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Карта: путь клиентки по приложению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один раз — разбор (верхний ряд). Потом каждый день — пять вкладок внизу экрана.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325880" cy="777240"/>
          </a:xfrm>
          <a:prstGeom prst="roundRect">
            <a:avLst>
              <a:gd name="adj" fmla="val 11765"/>
            </a:avLst>
          </a:prstGeom>
          <a:solidFill>
            <a:srgbClr val="FCEFD9"/>
          </a:solidFill>
          <a:ln w="12700">
            <a:solidFill>
              <a:srgbClr val="FCEF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920240" y="1645920"/>
            <a:ext cx="219456" cy="228600"/>
          </a:xfrm>
          <a:prstGeom prst="rightArrow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76272" y="1371600"/>
            <a:ext cx="1325880" cy="777240"/>
          </a:xfrm>
          <a:prstGeom prst="roundRect">
            <a:avLst>
              <a:gd name="adj" fmla="val 11765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76272" y="137160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1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 лица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547872" y="1645920"/>
            <a:ext cx="219456" cy="228600"/>
          </a:xfrm>
          <a:prstGeom prst="rightArrow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03904" y="1371600"/>
            <a:ext cx="1325880" cy="777240"/>
          </a:xfrm>
          <a:prstGeom prst="roundRect">
            <a:avLst>
              <a:gd name="adj" fmla="val 11765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03904" y="137160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2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 в рост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175504" y="1645920"/>
            <a:ext cx="219456" cy="228600"/>
          </a:xfrm>
          <a:prstGeom prst="rightArrow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31536" y="1371600"/>
            <a:ext cx="1325880" cy="777240"/>
          </a:xfrm>
          <a:prstGeom prst="roundRect">
            <a:avLst>
              <a:gd name="adj" fmla="val 11765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31536" y="137160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3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анкета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03136" y="1645920"/>
            <a:ext cx="219456" cy="228600"/>
          </a:xfrm>
          <a:prstGeom prst="rightArrow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59168" y="1371600"/>
            <a:ext cx="1325880" cy="777240"/>
          </a:xfrm>
          <a:prstGeom prst="roundRect">
            <a:avLst>
              <a:gd name="adj" fmla="val 11765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59168" y="137160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секунды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407408" y="2240280"/>
            <a:ext cx="329184" cy="365760"/>
          </a:xfrm>
          <a:prstGeom prst="downArrow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697480"/>
            <a:ext cx="8046720" cy="1600200"/>
          </a:xfrm>
          <a:prstGeom prst="roundRect">
            <a:avLst>
              <a:gd name="adj" fmla="val 5714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61288" y="2816352"/>
            <a:ext cx="457200" cy="457200"/>
          </a:xfrm>
          <a:prstGeom prst="ellipse">
            <a:avLst/>
          </a:prstGeom>
          <a:solidFill>
            <a:srgbClr val="C2456E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2935224"/>
            <a:ext cx="219456" cy="219456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685800" y="333756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Панель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3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цветотип, индикаторы, 6 разделов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2743200" y="2816352"/>
            <a:ext cx="457200" cy="45720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072" y="2935224"/>
            <a:ext cx="219456" cy="219456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2267712" y="333756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Образы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3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превращение: как было / как стало</a:t>
            </a:r>
            <a:endParaRPr lang="en-US" sz="1350" dirty="0"/>
          </a:p>
        </p:txBody>
      </p:sp>
      <p:sp>
        <p:nvSpPr>
          <p:cNvPr id="26" name="Shape 22"/>
          <p:cNvSpPr/>
          <p:nvPr/>
        </p:nvSpPr>
        <p:spPr>
          <a:xfrm>
            <a:off x="4325112" y="2816352"/>
            <a:ext cx="457200" cy="457200"/>
          </a:xfrm>
          <a:prstGeom prst="ellipse">
            <a:avLst/>
          </a:prstGeom>
          <a:solidFill>
            <a:srgbClr val="C2456E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84" y="2935224"/>
            <a:ext cx="219456" cy="21945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3849624" y="333756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Проверить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3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вещь в магазине: брать или нет</a:t>
            </a:r>
            <a:endParaRPr lang="en-US" sz="1350" dirty="0"/>
          </a:p>
        </p:txBody>
      </p:sp>
      <p:sp>
        <p:nvSpPr>
          <p:cNvPr id="29" name="Shape 24"/>
          <p:cNvSpPr/>
          <p:nvPr/>
        </p:nvSpPr>
        <p:spPr>
          <a:xfrm>
            <a:off x="5907024" y="2816352"/>
            <a:ext cx="457200" cy="457200"/>
          </a:xfrm>
          <a:prstGeom prst="ellipse">
            <a:avLst/>
          </a:prstGeom>
          <a:solidFill>
            <a:srgbClr val="C2456E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5896" y="2935224"/>
            <a:ext cx="219456" cy="219456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5431536" y="333756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Гардероб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3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её вещи и их цвета</a:t>
            </a:r>
            <a:endParaRPr lang="en-US" sz="1350" dirty="0"/>
          </a:p>
        </p:txBody>
      </p:sp>
      <p:sp>
        <p:nvSpPr>
          <p:cNvPr id="32" name="Shape 26"/>
          <p:cNvSpPr/>
          <p:nvPr/>
        </p:nvSpPr>
        <p:spPr>
          <a:xfrm>
            <a:off x="7488936" y="2816352"/>
            <a:ext cx="457200" cy="457200"/>
          </a:xfrm>
          <a:prstGeom prst="ellipse">
            <a:avLst/>
          </a:prstGeom>
          <a:solidFill>
            <a:srgbClr val="C2456E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7808" y="2935224"/>
            <a:ext cx="219456" cy="219456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7013448" y="333756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Стилист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3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вопросы своими словами</a:t>
            </a:r>
            <a:endParaRPr lang="en-US" sz="1350" dirty="0"/>
          </a:p>
        </p:txBody>
      </p:sp>
      <p:sp>
        <p:nvSpPr>
          <p:cNvPr id="35" name="Text 28"/>
          <p:cNvSpPr txBox="1"/>
          <p:nvPr/>
        </p:nvSpPr>
        <p:spPr>
          <a:xfrm>
            <a:off x="548640" y="4389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Плюс </a:t>
            </a:r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</a:t>
            </a:r>
            <a:pPr indent="0" marL="0">
              <a:buNone/>
            </a:pPr>
            <a:r>
              <a:rPr lang="en-US" sz="12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кружок с человечком вверху справа: стиль-паспорт, язык, выход.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0f6f79f4-524c-52dc-a6cd-3191363a22d6/scratchpad/guide/01_welcome_an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500" y="182880"/>
            <a:ext cx="2728840" cy="47548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46120" y="274320"/>
            <a:ext cx="512064" cy="274320"/>
          </a:xfrm>
          <a:prstGeom prst="roundRect">
            <a:avLst>
              <a:gd name="adj" fmla="val 50000"/>
            </a:avLst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246120" y="27432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3246120" y="62179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Экран 1. Вход по ключу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3246120" y="11430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первое, что видит клиентка, открыв ссылку mn-stilist.github.io/aru/app/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246120" y="1700784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337560" y="1828800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37560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794760" y="1700784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Язык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 · KZ · EN — переключается на любом экране, всё переводится сразу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46120" y="2359152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37560" y="2487168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37560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794760" y="2359152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 доступа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Покупательница получает его после оплаты. В прототипе уже вставлен ARU-DEMO-2026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246120" y="3017520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37560" y="3145536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337560" y="3145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3794760" y="3017520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Войти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Нажмите — откроется первый шаг разбора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246120" y="3675888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337560" y="3803904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337560" y="3803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3794760" y="3675888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ключа?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Ссылка на покупку. Цена в прототипе условная — решим при тестировании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82296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Разбор: 3 шага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3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раз в начале: два фото и анкета — и Aru знает её цветотип и фигуру.</a:t>
            </a:r>
            <a:endParaRPr lang="en-US" sz="1600" dirty="0"/>
          </a:p>
        </p:txBody>
      </p:sp>
      <p:pic>
        <p:nvPicPr>
          <p:cNvPr id="5" name="Image 0" descr="/tmp/claude-0/-home-claude/0f6f79f4-524c-52dc-a6cd-3191363a22d6/scratchpad/guide/02_f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88560" y="320040"/>
            <a:ext cx="2070401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0f6f79f4-524c-52dc-a6cd-3191363a22d6/scratchpad/guide/02_face_an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500" y="182880"/>
            <a:ext cx="2728840" cy="47548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46120" y="274320"/>
            <a:ext cx="1289304" cy="274320"/>
          </a:xfrm>
          <a:prstGeom prst="roundRect">
            <a:avLst>
              <a:gd name="adj" fmla="val 50000"/>
            </a:avLst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246120" y="274320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Разбор: 3 шага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3246120" y="62179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Шаг 1 из 3. Фото лица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3246120" y="11430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 по фото определяет подтон кожи, контраст и форму лица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246120" y="1700784"/>
            <a:ext cx="5440680" cy="521208"/>
          </a:xfrm>
          <a:prstGeom prst="roundRect">
            <a:avLst>
              <a:gd name="adj" fmla="val 17544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337560" y="1805940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37560" y="18059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794760" y="1700784"/>
            <a:ext cx="4800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Полоска шагов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осталось: шаг 1 из 3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46120" y="2313432"/>
            <a:ext cx="5440680" cy="521208"/>
          </a:xfrm>
          <a:prstGeom prst="roundRect">
            <a:avLst>
              <a:gd name="adj" fmla="val 17544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37560" y="2418588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37560" y="24185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794760" y="2313432"/>
            <a:ext cx="4800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Загрузить фото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Нажмите — выберите фото из телефона или снимите камерой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246120" y="2926080"/>
            <a:ext cx="5440680" cy="521208"/>
          </a:xfrm>
          <a:prstGeom prst="roundRect">
            <a:avLst>
              <a:gd name="adj" fmla="val 17544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37560" y="3031236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337560" y="30312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3794760" y="2926080"/>
            <a:ext cx="4800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Подсказки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Дневной свет, без макияжа, без фильтров — так цвет определяется точнее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246120" y="3538728"/>
            <a:ext cx="5440680" cy="521208"/>
          </a:xfrm>
          <a:prstGeom prst="roundRect">
            <a:avLst>
              <a:gd name="adj" fmla="val 17544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337560" y="3643884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337560" y="36438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3794760" y="3538728"/>
            <a:ext cx="4800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Демо-клиентка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своего фото? Нажмите — Aru подставит фото и анкету Айгерим и сразу перейдёт к шагу 3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3246120" y="4151376"/>
            <a:ext cx="5440680" cy="521208"/>
          </a:xfrm>
          <a:prstGeom prst="roundRect">
            <a:avLst>
              <a:gd name="adj" fmla="val 17544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337560" y="4256532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337560" y="42565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3794760" y="4151376"/>
            <a:ext cx="4800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Далее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 к шагу 2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0f6f79f4-524c-52dc-a6cd-3191363a22d6/scratchpad/guide/03_body_an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500" y="182880"/>
            <a:ext cx="2728840" cy="47548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46120" y="274320"/>
            <a:ext cx="1289304" cy="274320"/>
          </a:xfrm>
          <a:prstGeom prst="roundRect">
            <a:avLst>
              <a:gd name="adj" fmla="val 50000"/>
            </a:avLst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246120" y="274320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Разбор: 3 шага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3246120" y="62179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Шаг 2 из 3. Фото в полный рост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3246120" y="11430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второму фото Aru определяет тип фигуры и пропорции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246120" y="1700784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337560" y="1828800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37560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794760" y="1700784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 в рост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Стоя прямо, руки вдоль тела, лучше в облегающей одежде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46120" y="2359152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37560" y="2487168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37560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794760" y="2359152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Далее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 к анкете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246120" y="3017520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37560" y="3145536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337560" y="3145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3794760" y="3017520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Назад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Вернуться к фото лица, если хотите заменить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0f6f79f4-524c-52dc-a6cd-3191363a22d6/scratchpad/guide/04_quiz_an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500" y="182880"/>
            <a:ext cx="2728840" cy="47548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46120" y="274320"/>
            <a:ext cx="1289304" cy="274320"/>
          </a:xfrm>
          <a:prstGeom prst="roundRect">
            <a:avLst>
              <a:gd name="adj" fmla="val 50000"/>
            </a:avLst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246120" y="274320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Разбор: 3 шага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3246120" y="62179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Шаг 3 из 3. Короткая анкета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3246120" y="11430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Шесть вопросов о жизни и вкусах. После «Демо-клиентки» ответы Айгерим уже отмечены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246120" y="1700784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337560" y="1828800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37560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794760" y="1700784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Возраст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Нажмите подходящий вариант — он станет тёмным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46120" y="2359152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37560" y="2487168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37560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794760" y="2359152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Двигайте ползунок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246120" y="3017520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37560" y="3145536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337560" y="3145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3794760" y="3017520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бываете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выбрать несколько: офис, мероприятия, путешествия…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246120" y="3675888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337560" y="3803904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337560" y="3803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3794760" y="3675888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 на вещь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 будет советовать покупки в этих пределах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0f6f79f4-524c-52dc-a6cd-3191363a22d6/scratchpad/guide/05_quiz2_an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500" y="182880"/>
            <a:ext cx="2728840" cy="47548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46120" y="274320"/>
            <a:ext cx="1289304" cy="274320"/>
          </a:xfrm>
          <a:prstGeom prst="roundRect">
            <a:avLst>
              <a:gd name="adj" fmla="val 50000"/>
            </a:avLst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246120" y="274320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Разбор: 3 шага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3246120" y="62179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Шаг 3 из 3. Конец анкеты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3246120" y="11430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Пролистайте анкету вниз пальцем или колёсиком мыши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246120" y="1700784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337560" y="1828800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37560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794760" y="1700784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нравится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Классика, минимализм, романтика…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46120" y="2359152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37560" y="2487168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37560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794760" y="2359152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не наденете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Своими словами — Aru это учтёт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246120" y="3017520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37560" y="3145536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337560" y="3145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3794760" y="3017520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Сделать разбор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кнопка — запускает анализ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0f6f79f4-524c-52dc-a6cd-3191363a22d6/scratchpad/guide/06_scan_an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500" y="182880"/>
            <a:ext cx="2728840" cy="47548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46120" y="274320"/>
            <a:ext cx="1289304" cy="274320"/>
          </a:xfrm>
          <a:prstGeom prst="roundRect">
            <a:avLst>
              <a:gd name="adj" fmla="val 50000"/>
            </a:avLst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246120" y="274320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Разбор: 3 шага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3246120" y="62179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Анализ: несколько секунд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3246120" y="11430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 по шагам «изучает» внешность и открывает панель стиля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246120" y="1700784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337560" y="1828800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37560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794760" y="1700784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Ваше фото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Фото, загруженное на шаге 1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46120" y="2359152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37560" y="2487168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37560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794760" y="2359152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Шаги анализа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Подтон → контраст → лицо и фигура → образы. В прототипе результат всегда Айгерим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82296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Панель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3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экран. Сюда клиентка возвращается каждый день.</a:t>
            </a:r>
            <a:endParaRPr lang="en-US" sz="1600" dirty="0"/>
          </a:p>
        </p:txBody>
      </p:sp>
      <p:pic>
        <p:nvPicPr>
          <p:cNvPr id="5" name="Image 0" descr="/tmp/claude-0/-home-claude/0f6f79f4-524c-52dc-a6cd-3191363a22d6/scratchpad/guide/07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88560" y="320040"/>
            <a:ext cx="2070401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0f6f79f4-524c-52dc-a6cd-3191363a22d6/scratchpad/guide/07_home_an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500" y="182880"/>
            <a:ext cx="2728840" cy="47548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46120" y="274320"/>
            <a:ext cx="667512" cy="274320"/>
          </a:xfrm>
          <a:prstGeom prst="roundRect">
            <a:avLst>
              <a:gd name="adj" fmla="val 50000"/>
            </a:avLst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246120" y="274320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Панель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3246120" y="62179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Панель — главный экран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3246120" y="11430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Сюда клиентка возвращается каждый раз. Наверху — главный вывод разбора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246120" y="1700784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337560" y="1828800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37560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794760" y="1700784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Стиль-паспорт, язык, выход — см. последний экран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46120" y="2359152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37560" y="2487168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37560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794760" y="2359152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Цветотип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«Тёмная осень» — от него зависит всё остальное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246120" y="3017520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37560" y="3145536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337560" y="3145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3794760" y="3017520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Её цвета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Полоска из 16 цветов, которые ей идут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246120" y="3675888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337560" y="3803904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337560" y="3803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3794760" y="3675888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Индикаторы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Подтон, контраст, насыщенность и доля гардероба в её палитре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0f6f79f4-524c-52dc-a6cd-3191363a22d6/scratchpad/guide/08_home2_an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500" y="182880"/>
            <a:ext cx="2728840" cy="47548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46120" y="274320"/>
            <a:ext cx="667512" cy="274320"/>
          </a:xfrm>
          <a:prstGeom prst="roundRect">
            <a:avLst>
              <a:gd name="adj" fmla="val 50000"/>
            </a:avLst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246120" y="274320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Панель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3246120" y="62179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Панель: разделы разбора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3246120" y="11430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Пролистайте Панель вниз. Шесть плиток — шесть разделов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246120" y="1700784"/>
            <a:ext cx="5440680" cy="41910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337560" y="1754886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37560" y="175488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794760" y="1700784"/>
            <a:ext cx="4800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Цвета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 драпировки и палитра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46120" y="2211324"/>
            <a:ext cx="5440680" cy="41910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37560" y="2265426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37560" y="226542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794760" y="2211324"/>
            <a:ext cx="4800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Причёска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Стрижки и оттенки волос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246120" y="2721864"/>
            <a:ext cx="5440680" cy="41910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37560" y="2775966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337560" y="277596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3794760" y="2721864"/>
            <a:ext cx="4800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Одежда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носить по фигуре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246120" y="3232404"/>
            <a:ext cx="5440680" cy="41910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337560" y="3286506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337560" y="328650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3794760" y="3232404"/>
            <a:ext cx="4800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Обувь и аксессуары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Металл, обувь, сумки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3246120" y="3742944"/>
            <a:ext cx="5440680" cy="41910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337560" y="3797046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337560" y="379704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3794760" y="3742944"/>
            <a:ext cx="4800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Макияж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Помады, румяна, тени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3246120" y="4253484"/>
            <a:ext cx="5440680" cy="41910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337560" y="4307586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337560" y="430758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3794760" y="4253484"/>
            <a:ext cx="4800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Образы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Готовые образы — главное, см. «Превращение»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0f6f79f4-524c-52dc-a6cd-3191363a22d6/scratchpad/guide/09_home3_an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500" y="182880"/>
            <a:ext cx="2728840" cy="47548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46120" y="274320"/>
            <a:ext cx="667512" cy="274320"/>
          </a:xfrm>
          <a:prstGeom prst="roundRect">
            <a:avLst>
              <a:gd name="adj" fmla="val 50000"/>
            </a:avLst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246120" y="274320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Панель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3246120" y="62179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Панель: превращение и меню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3246120" y="11430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самом низу Панели — фото готового образа. Внизу экрана всегда видно меню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246120" y="1700784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337560" y="1828800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37560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794760" y="1700784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Совет дня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«Ещё совет» — следующий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46120" y="2359152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37560" y="2487168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37560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794760" y="2359152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Ваше превращение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Нажмите — откроется вкладка «Образы» с фото «Как было / Как стало»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246120" y="3017520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37560" y="3145536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337560" y="3145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3794760" y="3017520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Нижнее меню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Панель · Образы · Проверить (круглая кнопка) · Гардероб · Стилист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82296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Превращение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3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 в Aru: клиентка видит себя в новом образе — и сравнивает с тем, как было.</a:t>
            </a:r>
            <a:endParaRPr lang="en-US" sz="1600" dirty="0"/>
          </a:p>
        </p:txBody>
      </p:sp>
      <p:pic>
        <p:nvPicPr>
          <p:cNvPr id="5" name="Image 0" descr="/tmp/claude-0/-home-claude/0f6f79f4-524c-52dc-a6cd-3191363a22d6/scratchpad/guide/10_loo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88560" y="320040"/>
            <a:ext cx="2070401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0f6f79f4-524c-52dc-a6cd-3191363a22d6/scratchpad/guide/10_looks_an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500" y="182880"/>
            <a:ext cx="2728840" cy="47548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46120" y="274320"/>
            <a:ext cx="1056132" cy="274320"/>
          </a:xfrm>
          <a:prstGeom prst="roundRect">
            <a:avLst>
              <a:gd name="adj" fmla="val 50000"/>
            </a:avLst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246120" y="274320"/>
            <a:ext cx="10561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Превращение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3246120" y="62179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Образы: превращение на фото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3246120" y="11430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Сердце Aru: клиентка видит себя в образе, подобранном под её цветотип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246120" y="1700784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337560" y="1828800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37560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794760" y="1700784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Демо-клиентка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Айгерим или Елена — у каждой свои цвета и образы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46120" y="2359152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37560" y="2487168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37560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794760" y="2359152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Случай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· Каждый день · Праздник… Листается вбок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246120" y="3017520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37560" y="3145536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337560" y="3145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3794760" y="3017520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было / Как стало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кнопка: переключает исходное фото и фото в образе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246120" y="3675888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337560" y="3803904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337560" y="3803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3794760" y="3675888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ракурса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Лицо, три четверти и полный рост — лицо и фигура её, одежда новая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0f6f79f4-524c-52dc-a6cd-3191363a22d6/scratchpad/guide/11_before_an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500" y="182880"/>
            <a:ext cx="2728840" cy="47548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46120" y="274320"/>
            <a:ext cx="1056132" cy="274320"/>
          </a:xfrm>
          <a:prstGeom prst="roundRect">
            <a:avLst>
              <a:gd name="adj" fmla="val 50000"/>
            </a:avLst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246120" y="274320"/>
            <a:ext cx="10561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Превращение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3246120" y="62179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Нажали «Как было»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3246120" y="11430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 же место, исходное фото: серый трикотаж и тёмные брюки. Сравните с прошлым кадром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246120" y="1700784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337560" y="1828800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37560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794760" y="1700784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было — нажата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Тёмная кнопка показывает, что сейчас на экране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46120" y="2359152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37560" y="2487168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37560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794760" y="2359152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Исходное фото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подбора: лицо выглядит тусклее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246120" y="3017520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37560" y="3145536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337560" y="3145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3794760" y="3017520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стало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Нажмите — снова образ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0f6f79f4-524c-52dc-a6cd-3191363a22d6/scratchpad/guide/12_looks2_an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500" y="182880"/>
            <a:ext cx="2728840" cy="47548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46120" y="274320"/>
            <a:ext cx="1056132" cy="274320"/>
          </a:xfrm>
          <a:prstGeom prst="roundRect">
            <a:avLst>
              <a:gd name="adj" fmla="val 50000"/>
            </a:avLst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246120" y="274320"/>
            <a:ext cx="10561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Превращение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3246120" y="62179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Образы: что надето и почему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3246120" y="11430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Пролистайте карточку образа вниз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246120" y="1700784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337560" y="1828800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37560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794760" y="1700784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Название образа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её цветотип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46120" y="2359152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37560" y="2487168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37560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794760" y="2359152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 образа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вещь и её цвет — кружок показывает оттенок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246120" y="3017520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37560" y="3145536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337560" y="3145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3794760" y="3017520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это работает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Объяснение стилиста простыми словами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246120" y="3675888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337560" y="3803904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337560" y="3803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3794760" y="3675888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Сохранить образ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Понравился — сохраните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0f6f79f4-524c-52dc-a6cd-3191363a22d6/scratchpad/guide/13_elena_an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500" y="182880"/>
            <a:ext cx="2728840" cy="47548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46120" y="274320"/>
            <a:ext cx="1056132" cy="274320"/>
          </a:xfrm>
          <a:prstGeom prst="roundRect">
            <a:avLst>
              <a:gd name="adj" fmla="val 50000"/>
            </a:avLst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246120" y="274320"/>
            <a:ext cx="10561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Превращение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3246120" y="62179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Вторая клиентка: Елена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3246120" y="11430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Нажмите «Елена» — те же кнопки, но совсем другая гамма: «Мягкое лето»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246120" y="1700784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337560" y="1828800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37560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794760" y="1700784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Елена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Выбрана — кнопка тёмная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46120" y="2359152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37560" y="2487168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37560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794760" y="2359152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Праздник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Платье цвета мальвы, серебро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246120" y="3017520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37560" y="3145536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337560" y="3145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3794760" y="3017520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было / Как стало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так же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0f6f79f4-524c-52dc-a6cd-3191363a22d6/scratchpad/guide/14_flat_an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500" y="182880"/>
            <a:ext cx="2728840" cy="47548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46120" y="274320"/>
            <a:ext cx="1056132" cy="274320"/>
          </a:xfrm>
          <a:prstGeom prst="roundRect">
            <a:avLst>
              <a:gd name="adj" fmla="val 50000"/>
            </a:avLst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246120" y="274320"/>
            <a:ext cx="10561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Превращение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3246120" y="62179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Свидание и Путешествие: рисунки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3246120" y="11430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Айгерим есть ещё два образа. Фото для них сделаем позже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246120" y="1700784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337560" y="1828800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37560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794760" y="1700784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Свидание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Выбран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46120" y="2359152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37560" y="2487168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37560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794760" y="2359152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Пометка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Примерка на фото для этого образа появится в рабочей версии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246120" y="3017520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37560" y="3145536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337560" y="3145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3794760" y="3017520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Рисунки вещей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Цвета верные, но это схема, а не фото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82296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Разделы разбора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3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Шесть плиток Панели: цвета, причёска, одежда, аксессуары, макияж, образы.</a:t>
            </a:r>
            <a:endParaRPr lang="en-US" sz="1600" dirty="0"/>
          </a:p>
        </p:txBody>
      </p:sp>
      <p:pic>
        <p:nvPicPr>
          <p:cNvPr id="5" name="Image 0" descr="/tmp/claude-0/-home-claude/0f6f79f4-524c-52dc-a6cd-3191363a22d6/scratchpad/guide/15_colo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88560" y="320040"/>
            <a:ext cx="2070401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0f6f79f4-524c-52dc-a6cd-3191363a22d6/scratchpad/guide/15_colors_an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500" y="182880"/>
            <a:ext cx="2728840" cy="47548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46120" y="274320"/>
            <a:ext cx="1367028" cy="274320"/>
          </a:xfrm>
          <a:prstGeom prst="roundRect">
            <a:avLst>
              <a:gd name="adj" fmla="val 50000"/>
            </a:avLst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246120" y="274320"/>
            <a:ext cx="13670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Разделы разбора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3246120" y="62179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Цвета: тест драпировки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3246120" y="11430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Панель → плитка «Цвета». Нажимайте цвета — «платок» у лица меняется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246120" y="1700784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337560" y="1828800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37560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794760" y="1700784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Лицо в цвете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цвет — лицо свежее; не ваш — тусклее. Пока рисунок, переведём на фото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46120" y="2359152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37560" y="2487168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37560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794760" y="2359152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Выбранный цвет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Терракота — обведён рамкой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246120" y="3017520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37560" y="3145536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337560" y="3145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3794760" y="3017520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ваших цветов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Листайте ниже — 8 цветов, которых лучше избегать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0f6f79f4-524c-52dc-a6cd-3191363a22d6/scratchpad/guide/16_hair_an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500" y="182880"/>
            <a:ext cx="2728840" cy="47548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46120" y="274320"/>
            <a:ext cx="1367028" cy="274320"/>
          </a:xfrm>
          <a:prstGeom prst="roundRect">
            <a:avLst>
              <a:gd name="adj" fmla="val 50000"/>
            </a:avLst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246120" y="274320"/>
            <a:ext cx="13670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Разделы разбора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3246120" y="62179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Причёска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3246120" y="11430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Панель → плитка «Причёска»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246120" y="1700784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337560" y="1828800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37560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794760" y="1700784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лица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что из этого следует для стрижки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46120" y="2359152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37560" y="2487168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37560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794760" y="2359152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стрижки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Нажмите — рисунок примерит её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246120" y="3017520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37560" y="3145536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337560" y="3145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3794760" y="3017520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Оттенки волос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Свои — обычные, не ваши — помечены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0f6f79f4-524c-52dc-a6cd-3191363a22d6/scratchpad/guide/17_clothes_an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500" y="182880"/>
            <a:ext cx="2728840" cy="47548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46120" y="274320"/>
            <a:ext cx="1367028" cy="274320"/>
          </a:xfrm>
          <a:prstGeom prst="roundRect">
            <a:avLst>
              <a:gd name="adj" fmla="val 50000"/>
            </a:avLst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246120" y="274320"/>
            <a:ext cx="13670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Разделы разбора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3246120" y="62179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Одежда по фигуре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3246120" y="11430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Панель → плитка «Одежда»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246120" y="1700784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337560" y="1828800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37560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794760" y="1700784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фигуры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«Песочные часы» — главное подчеркнуть талию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46120" y="2359152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37560" y="2487168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37560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794760" y="2359152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носить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Фасоны, которые ей идут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246120" y="3017520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37560" y="3145536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337560" y="3145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3794760" y="3017520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Чего избегать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Ниже по экрану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0f6f79f4-524c-52dc-a6cd-3191363a22d6/scratchpad/guide/18_acc_an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500" y="182880"/>
            <a:ext cx="2728840" cy="47548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46120" y="274320"/>
            <a:ext cx="1367028" cy="274320"/>
          </a:xfrm>
          <a:prstGeom prst="roundRect">
            <a:avLst>
              <a:gd name="adj" fmla="val 50000"/>
            </a:avLst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246120" y="274320"/>
            <a:ext cx="13670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Разделы разбора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3246120" y="62179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Аксессуары и макияж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3246120" y="11430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Панель → плитки «Обувь и аксессуары» и «Макияж» — устроены одинаково: карточки с цветами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246120" y="1700784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337560" y="1828800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37560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794760" y="1700784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 правило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Короткий вывод для её цветотипа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46120" y="2359152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37560" y="2487168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37560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794760" y="2359152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Помады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Нажмите — увидите, какие её, а какие нет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246120" y="3017520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37560" y="3145536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337560" y="3145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3794760" y="3017520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Румяна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Её оттенки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82296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Инструменты на каждый день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3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 — инструменты на каждый день: проверить вещь, гардероб, стилист, профиль.</a:t>
            </a:r>
            <a:endParaRPr lang="en-US" sz="1600" dirty="0"/>
          </a:p>
        </p:txBody>
      </p:sp>
      <p:pic>
        <p:nvPicPr>
          <p:cNvPr id="5" name="Image 0" descr="/tmp/claude-0/-home-claude/0f6f79f4-524c-52dc-a6cd-3191363a22d6/scratchpad/guide/19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88560" y="320040"/>
            <a:ext cx="2070401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0f6f79f4-524c-52dc-a6cd-3191363a22d6/scratchpad/guide/19_check_an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500" y="182880"/>
            <a:ext cx="2728840" cy="47548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46120" y="274320"/>
            <a:ext cx="1289304" cy="274320"/>
          </a:xfrm>
          <a:prstGeom prst="roundRect">
            <a:avLst>
              <a:gd name="adj" fmla="val 50000"/>
            </a:avLst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246120" y="274320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Проверить вещь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3246120" y="62179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Проверить: вещь в магазине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3246120" y="11430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Круглая кнопка внизу. Клиентка в магазине фотографирует вещь — Aru говорит, брать или нет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246120" y="1700784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337560" y="1828800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37560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794760" y="1700784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Сфотографировать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Нажмите — камера или фото. Цвет вещи считывается по-настоящему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46120" y="2359152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37560" y="2487168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37560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794760" y="2359152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это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Блуза, платье, брюки… — влияет на совет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246120" y="3017520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37560" y="3145536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337560" y="3145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3794760" y="3017520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Образцы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вещи под рукой — нажмите образец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0f6f79f4-524c-52dc-a6cd-3191363a22d6/scratchpad/guide/20_check2_an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500" y="182880"/>
            <a:ext cx="2728840" cy="47548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46120" y="274320"/>
            <a:ext cx="1289304" cy="274320"/>
          </a:xfrm>
          <a:prstGeom prst="roundRect">
            <a:avLst>
              <a:gd name="adj" fmla="val 50000"/>
            </a:avLst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246120" y="274320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Проверить вещь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3246120" y="62179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Проверить: ответ Aru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3246120" y="11430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Нажали образец «Блуза терракота». Через 2 секунды — вердикт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246120" y="1700784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337560" y="1828800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37560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794760" y="1700784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Насколько вещь подходит, из 100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46120" y="2359152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37560" y="2487168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37560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794760" y="2359152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Вердикт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«Берите», «Подумайте» или «Не ваше»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246120" y="3017520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37560" y="3145536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337560" y="3145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3794760" y="3017520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Цвет вещи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Какой цвет нашёл Aru и ближайший из её палитры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246120" y="3675888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337560" y="3803904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337560" y="3803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3794760" y="3675888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гардероб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Купили — добавьте вещь в гардероб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0f6f79f4-524c-52dc-a6cd-3191363a22d6/scratchpad/guide/21_wardrobe_an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500" y="182880"/>
            <a:ext cx="2728840" cy="47548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46120" y="27432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246120" y="274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Гардероб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3246120" y="62179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Гардероб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3246120" y="11430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Вкладка «Гардероб»: её вещи и сколько из них в её палитре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246120" y="1700784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337560" y="1828800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37560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794760" y="1700784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Цифры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вещей в её цветах, а сколько нет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46120" y="2359152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37560" y="2487168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37560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794760" y="2359152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· В палитре · Вне палитры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246120" y="3017520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37560" y="3145536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337560" y="3145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3794760" y="3017520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Добавить вещь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 вещи — цвет определится сам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246120" y="3675888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337560" y="3803904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337560" y="3803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3794760" y="3675888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Убрать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Крестик удаляет вещь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0f6f79f4-524c-52dc-a6cd-3191363a22d6/scratchpad/guide/22_chat_an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500" y="182880"/>
            <a:ext cx="2728840" cy="47548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46120" y="274320"/>
            <a:ext cx="745236" cy="274320"/>
          </a:xfrm>
          <a:prstGeom prst="roundRect">
            <a:avLst>
              <a:gd name="adj" fmla="val 50000"/>
            </a:avLst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246120" y="274320"/>
            <a:ext cx="7452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Стилист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3246120" y="62179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Стилист: свой вопрос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3246120" y="11430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Вкладка «Стилист». Нажали готовый вопрос — стилист ответил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246120" y="1700784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337560" y="1828800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37560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794760" y="1700784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Её вопрос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Справа — что спросила клиентка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46120" y="2359152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37560" y="2487168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37560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794760" y="2359152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стилиста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учётом её цветотипа и фигуры. В прототипе — по ключевым словам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246120" y="3017520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37560" y="3145536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337560" y="3145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3794760" y="3017520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Готовые вопросы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Свадьба, офис, свидание… листаются вбок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246120" y="3675888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337560" y="3803904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337560" y="3803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3794760" y="3675888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Свой вопрос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Напишите и нажмите стрелку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0f6f79f4-524c-52dc-a6cd-3191363a22d6/scratchpad/guide/23_profile_an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500" y="182880"/>
            <a:ext cx="2728840" cy="47548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46120" y="274320"/>
            <a:ext cx="745236" cy="274320"/>
          </a:xfrm>
          <a:prstGeom prst="roundRect">
            <a:avLst>
              <a:gd name="adj" fmla="val 50000"/>
            </a:avLst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246120" y="274320"/>
            <a:ext cx="7452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3246120" y="62179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Профиль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3246120" y="11430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Кружок с человечком вверху справа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246120" y="1700784"/>
            <a:ext cx="5440680" cy="521208"/>
          </a:xfrm>
          <a:prstGeom prst="roundRect">
            <a:avLst>
              <a:gd name="adj" fmla="val 17544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337560" y="1805940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37560" y="18059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794760" y="1700784"/>
            <a:ext cx="4800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Стиль-паспорт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Вся панель стиля одним PDF — можно распечатать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46120" y="2313432"/>
            <a:ext cx="5440680" cy="521208"/>
          </a:xfrm>
          <a:prstGeom prst="roundRect">
            <a:avLst>
              <a:gd name="adj" fmla="val 17544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37560" y="2418588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37560" y="24185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794760" y="2313432"/>
            <a:ext cx="4800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Пройти заново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Новые фото — новый разбор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246120" y="2926080"/>
            <a:ext cx="5440680" cy="521208"/>
          </a:xfrm>
          <a:prstGeom prst="roundRect">
            <a:avLst>
              <a:gd name="adj" fmla="val 17544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37560" y="3031236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337560" y="30312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3794760" y="2926080"/>
            <a:ext cx="4800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Удалить фото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Приватность: фото стираются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246120" y="3538728"/>
            <a:ext cx="5440680" cy="521208"/>
          </a:xfrm>
          <a:prstGeom prst="roundRect">
            <a:avLst>
              <a:gd name="adj" fmla="val 17544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337560" y="3643884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337560" y="36438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3794760" y="3538728"/>
            <a:ext cx="4800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Выйти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Вернуться к экрану ключа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3246120" y="4151376"/>
            <a:ext cx="5440680" cy="521208"/>
          </a:xfrm>
          <a:prstGeom prst="roundRect">
            <a:avLst>
              <a:gd name="adj" fmla="val 17544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337560" y="4256532"/>
            <a:ext cx="347472" cy="347472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337560" y="42565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3794760" y="4151376"/>
            <a:ext cx="4800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  </a:t>
            </a:r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Мужская версия — скоро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настоящее, а что пока имитация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Чтобы не домысливать: прототип показывает идею, рабочая версия будет считать всё по-настоящему.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931920" cy="3383280"/>
          </a:xfrm>
          <a:prstGeom prst="roundRect">
            <a:avLst>
              <a:gd name="adj" fmla="val 2703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63440" y="1280160"/>
            <a:ext cx="3931920" cy="3383280"/>
          </a:xfrm>
          <a:prstGeom prst="roundRect">
            <a:avLst>
              <a:gd name="adj" fmla="val 2703"/>
            </a:avLst>
          </a:prstGeom>
          <a:solidFill>
            <a:srgbClr val="FCEFD9"/>
          </a:solidFill>
          <a:ln w="12700">
            <a:solidFill>
              <a:srgbClr val="FCEF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E8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Работает по-настоящему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A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  Пока имитация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82880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Переключение языков RU · KZ · EN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Цвет вещи на фото во «Проверить» считывается по-настоящему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Гардероб сохраняется в браузере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 «Как было / Как стало» — настоящие примерки, сделанные в Gemini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82880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всегда показывает результат Айгерим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Стилист отвечает по ключевым словам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Драпировка, причёска, макияж — пока на рисунке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Ключ: принимается любой вида ARU-XXXX-XXXX; оплата не подключена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Цены в прототипе условные — решим при тестировании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Показ за 2 минуты: маршрут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365760" cy="365760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0515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→ «Войти» (ключ уже вставлен)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365760" cy="365760"/>
          </a:xfrm>
          <a:prstGeom prst="ellipse">
            <a:avLst/>
          </a:prstGeom>
          <a:solidFill>
            <a:srgbClr val="6D2E4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57276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«Показать на демо-клиентке Айгерим» → «Сделать разбор»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093976"/>
            <a:ext cx="365760" cy="365760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093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09397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Панель: «Тёмная осень» и её 16 цветов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615184"/>
            <a:ext cx="365760" cy="365760"/>
          </a:xfrm>
          <a:prstGeom prst="ellipse">
            <a:avLst/>
          </a:prstGeom>
          <a:solidFill>
            <a:srgbClr val="6D2E4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615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615184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Внизу «Образы» → «Как было» → «Как стало»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136392"/>
            <a:ext cx="365760" cy="365760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136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13639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«Праздник» → снова «Как было / Как стало»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6D2E4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36576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Сверху «Елена» — совсем другая гамма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178808"/>
            <a:ext cx="365760" cy="365760"/>
          </a:xfrm>
          <a:prstGeom prst="ellipse">
            <a:avLst/>
          </a:prstGeom>
          <a:solidFill>
            <a:srgbClr val="C245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178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417880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Круглая кнопка «Проверить» → образец «Платье ледяной розы» → «Не ваше»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Если что-то не так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3886200" cy="1005840"/>
          </a:xfrm>
          <a:prstGeom prst="roundRect">
            <a:avLst>
              <a:gd name="adj" fmla="val 9091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1298448"/>
            <a:ext cx="512064" cy="512064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426464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1887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экране старая версия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+ F5. Не помогло — окно инкогнито: Ctrl + Shift + N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617720" y="1051560"/>
            <a:ext cx="3886200" cy="1005840"/>
          </a:xfrm>
          <a:prstGeom prst="roundRect">
            <a:avLst>
              <a:gd name="adj" fmla="val 9091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782312" y="1298448"/>
            <a:ext cx="512064" cy="512064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142646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40680" y="11887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Хочу начать с начала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 → «Пройти разбор заново»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48640" y="2240280"/>
            <a:ext cx="3886200" cy="1005840"/>
          </a:xfrm>
          <a:prstGeom prst="roundRect">
            <a:avLst>
              <a:gd name="adj" fmla="val 9091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13232" y="2487168"/>
            <a:ext cx="512064" cy="512064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615184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71600" y="23774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Хочу вернуться к ключу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 → «Выйти»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4617720" y="2240280"/>
            <a:ext cx="3886200" cy="1005840"/>
          </a:xfrm>
          <a:prstGeom prst="roundRect">
            <a:avLst>
              <a:gd name="adj" fmla="val 9091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782312" y="2487168"/>
            <a:ext cx="512064" cy="512064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2615184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440680" y="23774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 не видна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Листайте внутри телефона — часть экрана ниже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548640" y="3429000"/>
            <a:ext cx="3886200" cy="1005840"/>
          </a:xfrm>
          <a:prstGeom prst="roundRect">
            <a:avLst>
              <a:gd name="adj" fmla="val 9091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13232" y="3675888"/>
            <a:ext cx="512064" cy="512064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3803904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371600" y="35661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тот язык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 · KZ · EN вверху любого экрана</a:t>
            </a:r>
            <a:endParaRPr lang="en-US" sz="1350" dirty="0"/>
          </a:p>
        </p:txBody>
      </p:sp>
      <p:sp>
        <p:nvSpPr>
          <p:cNvPr id="23" name="Shape 16"/>
          <p:cNvSpPr/>
          <p:nvPr/>
        </p:nvSpPr>
        <p:spPr>
          <a:xfrm>
            <a:off x="4617720" y="3429000"/>
            <a:ext cx="3886200" cy="1005840"/>
          </a:xfrm>
          <a:prstGeom prst="roundRect">
            <a:avLst>
              <a:gd name="adj" fmla="val 9091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4782312" y="3675888"/>
            <a:ext cx="512064" cy="512064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3803904"/>
            <a:ext cx="256032" cy="25603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440680" y="35661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Непонятно, что делает кнопка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Найдите её в этом путеводителе или спросите Claude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Путеводитель — живой документ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1188720"/>
          </a:xfrm>
          <a:prstGeom prst="roundRect">
            <a:avLst>
              <a:gd name="adj" fmla="val 7692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18872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изменение прототипа → новая версия путеводителя с новыми снимками. Номер версии — на обложке. Хранится в папке 03_Документы и на GitHub (docs/).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8046720" cy="548640"/>
          </a:xfrm>
          <a:prstGeom prst="roundRect">
            <a:avLst>
              <a:gd name="adj" fmla="val 16667"/>
            </a:avLst>
          </a:prstGeom>
          <a:solidFill>
            <a:srgbClr val="EAF4EE"/>
          </a:solidFill>
          <a:ln w="12700">
            <a:solidFill>
              <a:srgbClr val="E5D5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5603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Версия 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25603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23.10.2026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25603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 v0.3: превращение на фото, Айгерим и Елена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804672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D5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2461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Версия 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011680" y="32461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32461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Драпировка, причёска и макияж — на настоящем фото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u">
  <a:themeElements>
    <a:clrScheme name="Aru">
      <a:dk1>
        <a:srgbClr val="2B1A22"/>
      </a:dk1>
      <a:lt1>
        <a:srgbClr val="FFFFFF"/>
      </a:lt1>
      <a:dk2>
        <a:srgbClr val="6D2E46"/>
      </a:dk2>
      <a:lt2>
        <a:srgbClr val="F7E6EC"/>
      </a:lt2>
      <a:accent1>
        <a:srgbClr val="C2456E"/>
      </a:accent1>
      <a:accent2>
        <a:srgbClr val="6D2E46"/>
      </a:accent2>
      <a:accent3>
        <a:srgbClr val="D9A441"/>
      </a:accent3>
      <a:accent4>
        <a:srgbClr val="A26769"/>
      </a:accent4>
      <a:accent5>
        <a:srgbClr val="8E6C88"/>
      </a:accent5>
      <a:accent6>
        <a:srgbClr val="3E8A68"/>
      </a:accent6>
      <a:hlink>
        <a:srgbClr val="C2456E"/>
      </a:hlink>
      <a:folHlink>
        <a:srgbClr val="6D2E46"/>
      </a:folHlink>
    </a:clrScheme>
    <a:fontScheme name="Aru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Путеводитель по Aru — прототип кадр за кадром</dc:title>
  <dc:subject>PptxGenJS Presentation</dc:subject>
  <dc:creator>Проект Aru</dc:creator>
  <cp:lastModifiedBy>Проект Aru</cp:lastModifiedBy>
  <cp:revision>1</cp:revision>
  <dcterms:created xsi:type="dcterms:W3CDTF">2026-10-23T18:41:48Z</dcterms:created>
  <dcterms:modified xsi:type="dcterms:W3CDTF">2026-10-23T18:41:48Z</dcterms:modified>
</cp:coreProperties>
</file>