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493776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3" name="Text 0"/>
          <p:cNvSpPr/>
          <p:nvPr/>
        </p:nvSpPr>
        <p:spPr>
          <a:xfrm>
            <a:off x="548640" y="480060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Протокол №4  ·  24.10.2026  ·  Проект Aru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kvantor.gumroad.com/l/aru" TargetMode="External"/><Relationship Id="rId1" Type="http://schemas.openxmlformats.org/officeDocument/2006/relationships/image" Target="../media/image-2-1.png"/><Relationship Id="rId3" Type="http://schemas.openxmlformats.org/officeDocument/2006/relationships/image" Target="../media/image-2-2.png"/><Relationship Id="rId4" Type="http://schemas.openxmlformats.org/officeDocument/2006/relationships/image" Target="../media/image-2-3.png"/><Relationship Id="rId5" Type="http://schemas.openxmlformats.org/officeDocument/2006/relationships/image" Target="../media/image-2-4.png"/><Relationship Id="rId6" Type="http://schemas.openxmlformats.org/officeDocument/2006/relationships/image" Target="../media/image-2-5.png"/><Relationship Id="rId7" Type="http://schemas.openxmlformats.org/officeDocument/2006/relationships/image" Target="../media/image-2-6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Протокол №4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82296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Оплата, ключи и сервер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83464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3D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Aru можно купить: подписка $29 в месяц в Gumroad, ключ доступа, аккаунт клиентки, лимиты примерок на сервере. Две тест-покупки прошли, одна — настоящим платежом.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251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9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октября 2026  ·  14:45–19:50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824728" y="617389"/>
            <a:ext cx="2889504" cy="3885863"/>
          </a:xfrm>
          <a:prstGeom prst="rect">
            <a:avLst/>
          </a:prstGeom>
          <a:solidFill>
            <a:srgbClr val="EED9E1"/>
          </a:solidFill>
          <a:ln w="12700">
            <a:solidFill>
              <a:srgbClr val="EED9E1"/>
            </a:solidFill>
            <a:prstDash val="solid"/>
          </a:ln>
        </p:spPr>
      </p:sp>
      <p:pic>
        <p:nvPicPr>
          <p:cNvPr id="7" name="Image 0" descr="/mnt/user-data/attachments/0f6f79f4-524c-52dc-a6cd-3191363a22d6/40ae61d2-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0" y="644821"/>
            <a:ext cx="2834640" cy="38309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Итог этапа: что теперь есть у проекта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8046720" cy="512064"/>
          </a:xfrm>
          <a:prstGeom prst="roundRect">
            <a:avLst>
              <a:gd name="adj" fmla="val 17857"/>
            </a:avLst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124712"/>
            <a:ext cx="365760" cy="365760"/>
          </a:xfrm>
          <a:prstGeom prst="ellipse">
            <a:avLst/>
          </a:prstGeom>
          <a:solidFill>
            <a:srgbClr val="3E8A68"/>
          </a:solidFill>
          <a:ln w="12700">
            <a:solidFill>
              <a:srgbClr val="3E8A68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16152"/>
            <a:ext cx="182880" cy="1828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1097280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Товар в Gumroad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4114800" y="1097280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u="sng" dirty="0">
                <a:solidFill>
                  <a:srgbClr val="C2456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kvantor.gumroad.com/l/aru</a:t>
            </a:r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подписка $29 в месяц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1655064"/>
            <a:ext cx="8046720" cy="512064"/>
          </a:xfrm>
          <a:prstGeom prst="roundRect">
            <a:avLst>
              <a:gd name="adj" fmla="val 17857"/>
            </a:avLst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85800" y="1728216"/>
            <a:ext cx="365760" cy="365760"/>
          </a:xfrm>
          <a:prstGeom prst="ellipse">
            <a:avLst/>
          </a:prstGeom>
          <a:solidFill>
            <a:srgbClr val="3E8A68"/>
          </a:solidFill>
          <a:ln w="12700">
            <a:solidFill>
              <a:srgbClr val="3E8A68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19656"/>
            <a:ext cx="182880" cy="1828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34440" y="1700784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Коды скидки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4114800" y="1700784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SEMYA — $1 для родственников · TESTARU — бесплатно для тестов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2258568"/>
            <a:ext cx="8046720" cy="512064"/>
          </a:xfrm>
          <a:prstGeom prst="roundRect">
            <a:avLst>
              <a:gd name="adj" fmla="val 17857"/>
            </a:avLst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85800" y="2331720"/>
            <a:ext cx="365760" cy="365760"/>
          </a:xfrm>
          <a:prstGeom prst="ellipse">
            <a:avLst/>
          </a:prstGeom>
          <a:solidFill>
            <a:srgbClr val="3E8A68"/>
          </a:solidFill>
          <a:ln w="12700">
            <a:solidFill>
              <a:srgbClr val="3E8A68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423160"/>
            <a:ext cx="182880" cy="1828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234440" y="2304288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 aru-api в Supabase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4114800" y="2304288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ключа, аккаунты, подписка, лимиты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548640" y="2862072"/>
            <a:ext cx="8046720" cy="512064"/>
          </a:xfrm>
          <a:prstGeom prst="roundRect">
            <a:avLst>
              <a:gd name="adj" fmla="val 17857"/>
            </a:avLst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85800" y="2935224"/>
            <a:ext cx="365760" cy="365760"/>
          </a:xfrm>
          <a:prstGeom prst="ellipse">
            <a:avLst/>
          </a:prstGeom>
          <a:solidFill>
            <a:srgbClr val="3E8A68"/>
          </a:solidFill>
          <a:ln w="12700">
            <a:solidFill>
              <a:srgbClr val="3E8A68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026664"/>
            <a:ext cx="182880" cy="18288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234440" y="2907792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 в приложение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4114800" y="2907792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 → аккаунт (почта и пароль) → повторный вход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548640" y="3465576"/>
            <a:ext cx="8046720" cy="512064"/>
          </a:xfrm>
          <a:prstGeom prst="roundRect">
            <a:avLst>
              <a:gd name="adj" fmla="val 17857"/>
            </a:avLst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85800" y="3538728"/>
            <a:ext cx="365760" cy="365760"/>
          </a:xfrm>
          <a:prstGeom prst="ellipse">
            <a:avLst/>
          </a:prstGeom>
          <a:solidFill>
            <a:srgbClr val="3E8A68"/>
          </a:solidFill>
          <a:ln w="12700">
            <a:solidFill>
              <a:srgbClr val="3E8A68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3630168"/>
            <a:ext cx="182880" cy="18288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234440" y="3511296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Две тест-покупки</a:t>
            </a:r>
            <a:endParaRPr lang="en-US" sz="1300" dirty="0"/>
          </a:p>
        </p:txBody>
      </p:sp>
      <p:sp>
        <p:nvSpPr>
          <p:cNvPr id="27" name="Text 20"/>
          <p:cNvSpPr txBox="1"/>
          <p:nvPr/>
        </p:nvSpPr>
        <p:spPr>
          <a:xfrm>
            <a:off x="4114800" y="3511296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 по TESTARU и $1 картой по SEMYA — обе работают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548640" y="4069080"/>
            <a:ext cx="8046720" cy="512064"/>
          </a:xfrm>
          <a:prstGeom prst="roundRect">
            <a:avLst>
              <a:gd name="adj" fmla="val 17857"/>
            </a:avLst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685800" y="4142232"/>
            <a:ext cx="365760" cy="365760"/>
          </a:xfrm>
          <a:prstGeom prst="ellipse">
            <a:avLst/>
          </a:prstGeom>
          <a:solidFill>
            <a:srgbClr val="3E8A68"/>
          </a:solidFill>
          <a:ln w="12700">
            <a:solidFill>
              <a:srgbClr val="3E8A68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4233672"/>
            <a:ext cx="182880" cy="18288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1234440" y="4114800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Новые папки</a:t>
            </a:r>
            <a:endParaRPr lang="en-US" sz="1300" dirty="0"/>
          </a:p>
        </p:txBody>
      </p:sp>
      <p:sp>
        <p:nvSpPr>
          <p:cNvPr id="32" name="Text 24"/>
          <p:cNvSpPr txBox="1"/>
          <p:nvPr/>
        </p:nvSpPr>
        <p:spPr>
          <a:xfrm>
            <a:off x="4114800" y="4114800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06_Продвижение (видео Gemini) и 07_Сервер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устроен доступ: путь клиентки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Пять звеньев. Вручную ничего делать не нужно — всё происходит само.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371600" cy="1783080"/>
          </a:xfrm>
          <a:prstGeom prst="roundRect">
            <a:avLst>
              <a:gd name="adj" fmla="val 6667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7552" y="1508760"/>
            <a:ext cx="493776" cy="493776"/>
          </a:xfrm>
          <a:prstGeom prst="ellipse">
            <a:avLst/>
          </a:prstGeom>
          <a:solidFill>
            <a:srgbClr val="C2456E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" y="1627632"/>
            <a:ext cx="256032" cy="2560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21792" y="2103120"/>
            <a:ext cx="12252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Покупка</a:t>
            </a:r>
            <a:endParaRPr lang="en-US" sz="13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Gumroad, $29 в месяц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1938528" y="2148840"/>
            <a:ext cx="219456" cy="228600"/>
          </a:xfrm>
          <a:prstGeom prst="rightArrow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176272" y="1371600"/>
            <a:ext cx="1371600" cy="1783080"/>
          </a:xfrm>
          <a:prstGeom prst="roundRect">
            <a:avLst>
              <a:gd name="adj" fmla="val 6667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615184" y="1508760"/>
            <a:ext cx="493776" cy="493776"/>
          </a:xfrm>
          <a:prstGeom prst="ellipse">
            <a:avLst/>
          </a:prstGeom>
          <a:solidFill>
            <a:srgbClr val="C2456E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4056" y="1627632"/>
            <a:ext cx="256032" cy="25603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249424" y="2103120"/>
            <a:ext cx="12252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Письмо</a:t>
            </a:r>
            <a:endParaRPr lang="en-US" sz="13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ключом доступа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3566160" y="2148840"/>
            <a:ext cx="219456" cy="228600"/>
          </a:xfrm>
          <a:prstGeom prst="rightArrow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803904" y="1371600"/>
            <a:ext cx="1371600" cy="1783080"/>
          </a:xfrm>
          <a:prstGeom prst="roundRect">
            <a:avLst>
              <a:gd name="adj" fmla="val 6667"/>
            </a:avLst>
          </a:prstGeom>
          <a:solidFill>
            <a:srgbClr val="FCEFD9"/>
          </a:solidFill>
          <a:ln w="12700">
            <a:solidFill>
              <a:srgbClr val="FCEFD9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242816" y="1508760"/>
            <a:ext cx="493776" cy="493776"/>
          </a:xfrm>
          <a:prstGeom prst="ellipse">
            <a:avLst/>
          </a:prstGeom>
          <a:solidFill>
            <a:srgbClr val="D9A441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1688" y="1627632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3877056" y="2103120"/>
            <a:ext cx="12252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 в Aru</a:t>
            </a:r>
            <a:endParaRPr lang="en-US" sz="13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 спрашивает Gumroad: настоящий?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5193792" y="2148840"/>
            <a:ext cx="219456" cy="228600"/>
          </a:xfrm>
          <a:prstGeom prst="rightArrow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431536" y="1371600"/>
            <a:ext cx="1371600" cy="1783080"/>
          </a:xfrm>
          <a:prstGeom prst="roundRect">
            <a:avLst>
              <a:gd name="adj" fmla="val 6667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870448" y="1508760"/>
            <a:ext cx="493776" cy="493776"/>
          </a:xfrm>
          <a:prstGeom prst="ellipse">
            <a:avLst/>
          </a:prstGeom>
          <a:solidFill>
            <a:srgbClr val="C2456E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1627632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504688" y="2103120"/>
            <a:ext cx="12252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Аккаунт</a:t>
            </a:r>
            <a:endParaRPr lang="en-US" sz="13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почта + пароль</a:t>
            </a:r>
            <a:endParaRPr lang="en-US" sz="1350" dirty="0"/>
          </a:p>
        </p:txBody>
      </p:sp>
      <p:sp>
        <p:nvSpPr>
          <p:cNvPr id="23" name="Shape 17"/>
          <p:cNvSpPr/>
          <p:nvPr/>
        </p:nvSpPr>
        <p:spPr>
          <a:xfrm>
            <a:off x="6821424" y="2148840"/>
            <a:ext cx="219456" cy="228600"/>
          </a:xfrm>
          <a:prstGeom prst="rightArrow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7059168" y="1371600"/>
            <a:ext cx="1371600" cy="1783080"/>
          </a:xfrm>
          <a:prstGeom prst="roundRect">
            <a:avLst>
              <a:gd name="adj" fmla="val 6667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7498080" y="1508760"/>
            <a:ext cx="493776" cy="493776"/>
          </a:xfrm>
          <a:prstGeom prst="ellipse">
            <a:avLst/>
          </a:prstGeom>
          <a:solidFill>
            <a:srgbClr val="C2456E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6952" y="1627632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7132320" y="2103120"/>
            <a:ext cx="12252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вход</a:t>
            </a:r>
            <a:endParaRPr lang="en-US" sz="13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 сверяет подписку</a:t>
            </a:r>
            <a:endParaRPr lang="en-US" sz="1350" dirty="0"/>
          </a:p>
        </p:txBody>
      </p:sp>
      <p:sp>
        <p:nvSpPr>
          <p:cNvPr id="28" name="Shape 21"/>
          <p:cNvSpPr/>
          <p:nvPr/>
        </p:nvSpPr>
        <p:spPr>
          <a:xfrm>
            <a:off x="548640" y="3337560"/>
            <a:ext cx="8046720" cy="1325880"/>
          </a:xfrm>
          <a:prstGeom prst="roundRect">
            <a:avLst>
              <a:gd name="adj" fmla="val 6897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9" name="Text 22"/>
          <p:cNvSpPr txBox="1"/>
          <p:nvPr/>
        </p:nvSpPr>
        <p:spPr>
          <a:xfrm>
            <a:off x="777240" y="3429000"/>
            <a:ext cx="7589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подписка закончилась или деньги вернули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сервер узнаёт это у Gumroad (раз в 12 часов) и закрывает доступ. </a:t>
            </a:r>
            <a:pPr indent="0" marL="0">
              <a:buNone/>
            </a:pPr>
            <a:r>
              <a:rPr lang="en-US" sz="13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оплатила снова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доступ открывается сам. Один ключ = одна клиентка: второй раз привязать ключ нельзя.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Gumroad: порядок и товар Aru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аккаунт Gumroad (карта Freedom Bank) — теперь только для Aru. Старые товары в архиве.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292608" cy="292608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25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32688" y="1298448"/>
            <a:ext cx="3017520" cy="464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→ у каждого старого товара «…» → Archive (5 товаров)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1790700"/>
            <a:ext cx="292608" cy="292608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7907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32688" y="1763268"/>
            <a:ext cx="3017520" cy="464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Магазин остаётся kvantor.gumroad.com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255520"/>
            <a:ext cx="292608" cy="292608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255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32688" y="2228088"/>
            <a:ext cx="3017520" cy="464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product → Name: Aru — Your Personal AI Stylist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720340"/>
            <a:ext cx="292608" cy="292608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27203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32688" y="2692908"/>
            <a:ext cx="3017520" cy="464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Тип: Membership (подписка)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185160"/>
            <a:ext cx="292608" cy="292608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185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932688" y="3157728"/>
            <a:ext cx="3017520" cy="464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Price: 29 $, a month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649980"/>
            <a:ext cx="292608" cy="292608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36499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932688" y="3622548"/>
            <a:ext cx="3017520" cy="464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Customize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4160520"/>
            <a:ext cx="3429000" cy="548640"/>
          </a:xfrm>
          <a:prstGeom prst="roundRect">
            <a:avLst>
              <a:gd name="adj" fmla="val 16667"/>
            </a:avLst>
          </a:prstGeom>
          <a:solidFill>
            <a:srgbClr val="FCEFD9"/>
          </a:solidFill>
          <a:ln w="12700">
            <a:solidFill>
              <a:srgbClr val="FCEFD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8368" y="4206240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4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Архив обратим: вкладка Archived → вернуть одной кнопкой.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63328" y="1252728"/>
            <a:ext cx="3074944" cy="1696212"/>
          </a:xfrm>
          <a:prstGeom prst="rect">
            <a:avLst/>
          </a:prstGeom>
          <a:solidFill>
            <a:srgbClr val="EED9E1"/>
          </a:solidFill>
          <a:ln w="12700">
            <a:solidFill>
              <a:srgbClr val="EED9E1"/>
            </a:solidFill>
            <a:prstDash val="solid"/>
          </a:ln>
        </p:spPr>
      </p:sp>
      <p:pic>
        <p:nvPicPr>
          <p:cNvPr id="25" name="Image 0" descr="/mnt/user-data/attachments/0f6f79f4-524c-52dc-a6cd-3191363a22d6/21337afc-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0760" y="1280160"/>
            <a:ext cx="3020080" cy="1641348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4806627" y="3040380"/>
            <a:ext cx="3188347" cy="1696212"/>
          </a:xfrm>
          <a:prstGeom prst="rect">
            <a:avLst/>
          </a:prstGeom>
          <a:solidFill>
            <a:srgbClr val="EED9E1"/>
          </a:solidFill>
          <a:ln w="12700">
            <a:solidFill>
              <a:srgbClr val="EED9E1"/>
            </a:solidFill>
            <a:prstDash val="solid"/>
          </a:ln>
        </p:spPr>
      </p:sp>
      <p:pic>
        <p:nvPicPr>
          <p:cNvPr id="27" name="Image 1" descr="/mnt/user-data/attachments/0f6f79f4-524c-52dc-a6cd-3191363a22d6/6c31d1b3-im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4059" y="3067812"/>
            <a:ext cx="3133483" cy="164134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Gumroad: настройки товара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Вкладка Product, затем Content.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292608" cy="292608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25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32688" y="1298448"/>
            <a:ext cx="3017520" cy="464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URL: aru → ссылка kvantor.gumroad.com/l/aru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1790700"/>
            <a:ext cx="292608" cy="292608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7907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32688" y="1763268"/>
            <a:ext cx="3017520" cy="464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Description: текст на трёх языках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255520"/>
            <a:ext cx="292608" cy="292608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255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32688" y="2228088"/>
            <a:ext cx="3017520" cy="464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Тариф (Tier): Monthly, $29 monthly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720340"/>
            <a:ext cx="292608" cy="292608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27203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32688" y="2692908"/>
            <a:ext cx="3017520" cy="464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Settings: «Members will lose access when their memberships end» — ВКЛ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185160"/>
            <a:ext cx="292608" cy="292608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185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932688" y="3157728"/>
            <a:ext cx="3017520" cy="464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Content: инструкция «как войти» + Insert → License key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649980"/>
            <a:ext cx="292608" cy="292608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36499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932688" y="3622548"/>
            <a:ext cx="3017520" cy="464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and continue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4160520"/>
            <a:ext cx="3429000" cy="548640"/>
          </a:xfrm>
          <a:prstGeom prst="roundRect">
            <a:avLst>
              <a:gd name="adj" fmla="val 16667"/>
            </a:avLst>
          </a:prstGeom>
          <a:solidFill>
            <a:srgbClr val="FCEFD9"/>
          </a:solidFill>
          <a:ln w="12700">
            <a:solidFill>
              <a:srgbClr val="FCEFD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8368" y="4206240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4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ID товара — в памятке «Aru_Gumroad_настройки.txt» (05_Gumroad).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72799" y="1252728"/>
            <a:ext cx="3256002" cy="1696212"/>
          </a:xfrm>
          <a:prstGeom prst="rect">
            <a:avLst/>
          </a:prstGeom>
          <a:solidFill>
            <a:srgbClr val="EED9E1"/>
          </a:solidFill>
          <a:ln w="12700">
            <a:solidFill>
              <a:srgbClr val="EED9E1"/>
            </a:solidFill>
            <a:prstDash val="solid"/>
          </a:ln>
        </p:spPr>
      </p:sp>
      <p:pic>
        <p:nvPicPr>
          <p:cNvPr id="25" name="Image 0" descr="/mnt/user-data/attachments/0f6f79f4-524c-52dc-a6cd-3191363a22d6/77f97462-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231" y="1280160"/>
            <a:ext cx="3201138" cy="1641348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4845949" y="3040380"/>
            <a:ext cx="3109702" cy="1696212"/>
          </a:xfrm>
          <a:prstGeom prst="rect">
            <a:avLst/>
          </a:prstGeom>
          <a:solidFill>
            <a:srgbClr val="EED9E1"/>
          </a:solidFill>
          <a:ln w="12700">
            <a:solidFill>
              <a:srgbClr val="EED9E1"/>
            </a:solidFill>
            <a:prstDash val="solid"/>
          </a:ln>
        </p:spPr>
      </p:sp>
      <p:pic>
        <p:nvPicPr>
          <p:cNvPr id="27" name="Image 1" descr="/mnt/user-data/attachments/0f6f79f4-524c-52dc-a6cd-3191363a22d6/56d7aaf7-im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3381" y="3067812"/>
            <a:ext cx="3054838" cy="164134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Gumroad: коды скидки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→ Discounts (gumroad.com/checkout/discounts). Цена для всех не меняется.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292608" cy="292608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25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32688" y="1298448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SEMYA «Семья»: Fixed amount $28 → цена $1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1892808"/>
            <a:ext cx="292608" cy="292608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8928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32688" y="1865376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quantity: 3, Duration: Forever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459736"/>
            <a:ext cx="292608" cy="292608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4597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32688" y="2432304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TESTARU «Тест»: Percentage 100% → бесплатно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026664"/>
            <a:ext cx="292608" cy="292608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0266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32688" y="2999232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quantity: 20 — только для своих тестов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593592"/>
            <a:ext cx="292608" cy="292608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5935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932688" y="356616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Ссылка с кодом: kvantor.gumroad.com/l/aru/SEMYA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178808" y="1809689"/>
            <a:ext cx="4443984" cy="2369943"/>
          </a:xfrm>
          <a:prstGeom prst="rect">
            <a:avLst/>
          </a:prstGeom>
          <a:solidFill>
            <a:srgbClr val="EED9E1"/>
          </a:solidFill>
          <a:ln w="12700">
            <a:solidFill>
              <a:srgbClr val="EED9E1"/>
            </a:solidFill>
            <a:prstDash val="solid"/>
          </a:ln>
        </p:spPr>
      </p:sp>
      <p:pic>
        <p:nvPicPr>
          <p:cNvPr id="20" name="Image 0" descr="/mnt/user-data/attachments/0f6f79f4-524c-52dc-a6cd-3191363a22d6/5ac04150-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1837121"/>
            <a:ext cx="4389120" cy="2315079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Тест-покупка №1: бесплатно по TESTARU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Окно инкогнито (Ctrl+Shift+N), почта из Тендер Радара — не почта самого Gumroad.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292608" cy="292608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25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32688" y="1298448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Открыть kvantor.gumroad.com/l/aru/TESTARU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1892808"/>
            <a:ext cx="292608" cy="292608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8928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32688" y="1865376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 → Checkout: Total $0, карта не нужна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459736"/>
            <a:ext cx="292608" cy="292608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4597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32688" y="2432304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Почта probakz2020@gmail.com → Get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026664"/>
            <a:ext cx="292608" cy="292608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0266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32688" y="2999232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Страница «спасибо» с инструкцией и ключом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593592"/>
            <a:ext cx="292608" cy="292608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5935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932688" y="356616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Письмо с ключом пришло; следующее списание $0 — 24.11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835095" y="1252728"/>
            <a:ext cx="3131410" cy="1696212"/>
          </a:xfrm>
          <a:prstGeom prst="rect">
            <a:avLst/>
          </a:prstGeom>
          <a:solidFill>
            <a:srgbClr val="EED9E1"/>
          </a:solidFill>
          <a:ln w="12700">
            <a:solidFill>
              <a:srgbClr val="EED9E1"/>
            </a:solidFill>
            <a:prstDash val="solid"/>
          </a:ln>
        </p:spPr>
      </p:sp>
      <p:pic>
        <p:nvPicPr>
          <p:cNvPr id="20" name="Image 0" descr="/mnt/user-data/attachments/0f6f79f4-524c-52dc-a6cd-3191363a22d6/30f0c077-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62527" y="1280160"/>
            <a:ext cx="3076546" cy="1641348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4843886" y="3040380"/>
            <a:ext cx="3113827" cy="1696212"/>
          </a:xfrm>
          <a:prstGeom prst="rect">
            <a:avLst/>
          </a:prstGeom>
          <a:solidFill>
            <a:srgbClr val="EED9E1"/>
          </a:solidFill>
          <a:ln w="12700">
            <a:solidFill>
              <a:srgbClr val="EED9E1"/>
            </a:solidFill>
            <a:prstDash val="solid"/>
          </a:ln>
        </p:spPr>
      </p:sp>
      <p:pic>
        <p:nvPicPr>
          <p:cNvPr id="22" name="Image 1" descr="/mnt/user-data/attachments/0f6f79f4-524c-52dc-a6cd-3191363a22d6/1e12b6d6-im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1318" y="3067812"/>
            <a:ext cx="3058963" cy="164134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Тест-покупка №2: $1 картой по SEMYA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Настоящий платёж — первая продажа Aru.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292608" cy="292608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25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32688" y="1298448"/>
            <a:ext cx="30175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Открыть kvantor.gumroad.com/l/aru/SEMYA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1883664"/>
            <a:ext cx="292608" cy="292608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8836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32688" y="1856232"/>
            <a:ext cx="30175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Цена $1 в месяц вместо $29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441448"/>
            <a:ext cx="292608" cy="292608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4414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32688" y="2414016"/>
            <a:ext cx="30175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Почта aktualgrup2018@gmail.com, оплата картой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999232"/>
            <a:ext cx="292608" cy="292608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29992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32688" y="2971800"/>
            <a:ext cx="30175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Письмо: Total $1, ключ 3023900D-…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557016"/>
            <a:ext cx="292608" cy="292608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5570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932688" y="3529584"/>
            <a:ext cx="30175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Gumroad: блок «Create an account» слева — НЕ наш, не заполняем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160520"/>
            <a:ext cx="3429000" cy="548640"/>
          </a:xfrm>
          <a:prstGeom prst="roundRect">
            <a:avLst>
              <a:gd name="adj" fmla="val 16667"/>
            </a:avLst>
          </a:prstGeom>
          <a:solidFill>
            <a:srgbClr val="FCEFD9"/>
          </a:solidFill>
          <a:ln w="12700">
            <a:solidFill>
              <a:srgbClr val="FCEFD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8368" y="4206240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4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тестовые ключи — в журнале памятки Gumroad. Пароли пишем туда же.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178808" y="1794926"/>
            <a:ext cx="4443984" cy="2399467"/>
          </a:xfrm>
          <a:prstGeom prst="rect">
            <a:avLst/>
          </a:prstGeom>
          <a:solidFill>
            <a:srgbClr val="EED9E1"/>
          </a:solidFill>
          <a:ln w="12700">
            <a:solidFill>
              <a:srgbClr val="EED9E1"/>
            </a:solidFill>
            <a:prstDash val="solid"/>
          </a:ln>
        </p:spPr>
      </p:sp>
      <p:pic>
        <p:nvPicPr>
          <p:cNvPr id="22" name="Image 0" descr="/mnt/user-data/attachments/0f6f79f4-524c-52dc-a6cd-3191363a22d6/6df9291e-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1822358"/>
            <a:ext cx="4389120" cy="234460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 Supabase: таблицы клиенток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Вручную через SQL Editor — текст из файла 07_Сервер/01_таблицы_клиенток.sql.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292608" cy="292608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25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32688" y="1298448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supabase.com/dashboard → организация aru → проект aru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1892808"/>
            <a:ext cx="292608" cy="292608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8928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32688" y="1865376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Editor → New query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459736"/>
            <a:ext cx="292608" cy="292608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4597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32688" y="2432304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Файл открыть Блокнотом: Ctrl+A, Ctrl+C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026664"/>
            <a:ext cx="292608" cy="292608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0266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32688" y="2999232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Вставить Ctrl+V → Run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593592"/>
            <a:ext cx="292608" cy="292608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5935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932688" y="356616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Результат: clients и usage_log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178808" y="1800027"/>
            <a:ext cx="4443984" cy="2389267"/>
          </a:xfrm>
          <a:prstGeom prst="rect">
            <a:avLst/>
          </a:prstGeom>
          <a:solidFill>
            <a:srgbClr val="EED9E1"/>
          </a:solidFill>
          <a:ln w="12700">
            <a:solidFill>
              <a:srgbClr val="EED9E1"/>
            </a:solidFill>
            <a:prstDash val="solid"/>
          </a:ln>
        </p:spPr>
      </p:sp>
      <p:pic>
        <p:nvPicPr>
          <p:cNvPr id="20" name="Image 0" descr="/mnt/user-data/attachments/0f6f79f4-524c-52dc-a6cd-3191363a22d6/08e23bb6-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1827459"/>
            <a:ext cx="4389120" cy="233440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 Коннектор Supabase — подключён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Теперь Claude сам создаёт таблицы и серверные функции. Секретные ключи — только вы.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292608" cy="292608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25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32688" y="1298448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claude.ai → Настройки → Коннекторы → Supabase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1892808"/>
            <a:ext cx="292608" cy="292608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8928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32688" y="1865376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«Подключить» → организация aru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459736"/>
            <a:ext cx="292608" cy="292608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4597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32688" y="2432304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Права: база и функции — чтение и запись; секреты — только чтение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026664"/>
            <a:ext cx="292608" cy="292608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0266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32688" y="2999232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 Claude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593592"/>
            <a:ext cx="292608" cy="292608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5935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932688" y="356616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опубликовал сервер aru-api и проверил его на настоящих ключах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858285" y="1252728"/>
            <a:ext cx="3085030" cy="3483864"/>
          </a:xfrm>
          <a:prstGeom prst="rect">
            <a:avLst/>
          </a:prstGeom>
          <a:solidFill>
            <a:srgbClr val="EED9E1"/>
          </a:solidFill>
          <a:ln w="12700">
            <a:solidFill>
              <a:srgbClr val="EED9E1"/>
            </a:solidFill>
            <a:prstDash val="solid"/>
          </a:ln>
        </p:spPr>
      </p:sp>
      <p:pic>
        <p:nvPicPr>
          <p:cNvPr id="20" name="Image 0" descr="/mnt/user-data/attachments/0f6f79f4-524c-52dc-a6cd-3191363a22d6/7a2525bd-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85717" y="1280160"/>
            <a:ext cx="3030166" cy="3429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 Приложение: вход по ключу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mn-stilist.github.io/aru/app/ — ключ вставляется один раз, дальше только почта и пароль.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803545" y="1252728"/>
            <a:ext cx="1364709" cy="2889504"/>
          </a:xfrm>
          <a:prstGeom prst="rect">
            <a:avLst/>
          </a:prstGeom>
          <a:solidFill>
            <a:srgbClr val="EED9E1"/>
          </a:solidFill>
          <a:ln w="12700">
            <a:solidFill>
              <a:srgbClr val="EED9E1"/>
            </a:solidFill>
            <a:prstDash val="solid"/>
          </a:ln>
        </p:spPr>
      </p:sp>
      <p:pic>
        <p:nvPicPr>
          <p:cNvPr id="5" name="Image 0" descr="/tmp/claude-0/-home-claude/0f6f79f4-524c-52dc-a6cd-3191363a22d6/scratchpad/auth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0977" y="1280160"/>
            <a:ext cx="1309845" cy="28346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416052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Вставить ключ из письма → «Войти»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2860945" y="1252728"/>
            <a:ext cx="1364709" cy="2889504"/>
          </a:xfrm>
          <a:prstGeom prst="rect">
            <a:avLst/>
          </a:prstGeom>
          <a:solidFill>
            <a:srgbClr val="EED9E1"/>
          </a:solidFill>
          <a:ln w="12700">
            <a:solidFill>
              <a:srgbClr val="EED9E1"/>
            </a:solidFill>
            <a:prstDash val="solid"/>
          </a:ln>
        </p:spPr>
      </p:sp>
      <p:pic>
        <p:nvPicPr>
          <p:cNvPr id="8" name="Image 1" descr="/tmp/claude-0/-home-claude/0f6f79f4-524c-52dc-a6cd-3191363a22d6/scratchpad/auth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8377" y="1280160"/>
            <a:ext cx="1309845" cy="28346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606040" y="416052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Неверный ключ — понятное сообщение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4918345" y="1252728"/>
            <a:ext cx="1364709" cy="2889504"/>
          </a:xfrm>
          <a:prstGeom prst="rect">
            <a:avLst/>
          </a:prstGeom>
          <a:solidFill>
            <a:srgbClr val="EED9E1"/>
          </a:solidFill>
          <a:ln w="12700">
            <a:solidFill>
              <a:srgbClr val="EED9E1"/>
            </a:solidFill>
            <a:prstDash val="solid"/>
          </a:ln>
        </p:spPr>
      </p:sp>
      <p:pic>
        <p:nvPicPr>
          <p:cNvPr id="11" name="Image 2" descr="/tmp/claude-0/-home-claude/0f6f79f4-524c-52dc-a6cd-3191363a22d6/scratchpad/auth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5777" y="1280160"/>
            <a:ext cx="1309845" cy="283464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663440" y="416052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 принят → почта уже подставлена, придумать пароль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6812280" y="1280160"/>
            <a:ext cx="1783080" cy="3429000"/>
          </a:xfrm>
          <a:prstGeom prst="roundRect">
            <a:avLst>
              <a:gd name="adj" fmla="val 5128"/>
            </a:avLst>
          </a:prstGeom>
          <a:solidFill>
            <a:srgbClr val="FCEFD9"/>
          </a:solidFill>
          <a:ln w="12700">
            <a:solidFill>
              <a:srgbClr val="FCEFD9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6949440" y="1417320"/>
            <a:ext cx="15544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9A6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 без ключа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ARU-DEMO-2026 по-прежнему открывает демо — для показа знакомым и роликов.</a:t>
            </a:r>
            <a:pPr indent="0" marL="0">
              <a:buNone/>
            </a:pPr>
            <a:r>
              <a:rPr lang="en-US" sz="13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9A6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Повторный вход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«Уже есть аккаунт? Войти по почте».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 Профиль: подписка и лимиты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Кружок с человечком вверху справа → карточка «Подписка» (данные с сервера).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292608" cy="292608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25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32688" y="129844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Почта аккаунта и статус «Активна»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292608" cy="292608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32688" y="184708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Оплачено до — дата следующего платежа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423160"/>
            <a:ext cx="292608" cy="292608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423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32688" y="239572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Примерок осталось: 30 в месяц, сбрасывается раз в месяц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971800"/>
            <a:ext cx="292608" cy="292608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2971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32688" y="294436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чаще 10 примерок в час — защита бюджета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520440"/>
            <a:ext cx="292608" cy="292608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520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932688" y="349300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«Тест: списать 1 примерку» — проверено: 30 → 29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069080"/>
            <a:ext cx="292608" cy="292608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40690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932688" y="404164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«Выйти» — теперь сразу под подпиской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104772" y="1252728"/>
            <a:ext cx="2592056" cy="3483864"/>
          </a:xfrm>
          <a:prstGeom prst="rect">
            <a:avLst/>
          </a:prstGeom>
          <a:solidFill>
            <a:srgbClr val="EED9E1"/>
          </a:solidFill>
          <a:ln w="12700">
            <a:solidFill>
              <a:srgbClr val="EED9E1"/>
            </a:solidFill>
            <a:prstDash val="solid"/>
          </a:ln>
        </p:spPr>
      </p:sp>
      <p:pic>
        <p:nvPicPr>
          <p:cNvPr id="23" name="Image 0" descr="/mnt/user-data/attachments/0f6f79f4-524c-52dc-a6cd-3191363a22d6/40ae61d2-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32204" y="1280160"/>
            <a:ext cx="2537192" cy="3429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 Карта папок на компьютере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M:\ __ 0000 __ ARU ЛИЧНЫЙ СТИЛИСТ — добавились 06 и 07.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8046720" cy="329184"/>
          </a:xfrm>
          <a:prstGeom prst="roundRect">
            <a:avLst>
              <a:gd name="adj" fmla="val 27778"/>
            </a:avLst>
          </a:prstGeom>
          <a:solidFill>
            <a:srgbClr val="F7E6EC"/>
          </a:solidFill>
          <a:ln w="12700">
            <a:solidFill>
              <a:srgbClr val="F1E2E8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98448"/>
            <a:ext cx="219456" cy="2011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24128" y="123444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24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00_Входящие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3108960" y="1234440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всё новое; разбираем в конце этапа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1618488"/>
            <a:ext cx="8046720" cy="329184"/>
          </a:xfrm>
          <a:prstGeom prst="roundRect">
            <a:avLst>
              <a:gd name="adj" fmla="val 27778"/>
            </a:avLst>
          </a:prstGeom>
          <a:solidFill>
            <a:srgbClr val="FFFFFF"/>
          </a:solidFill>
          <a:ln w="12700">
            <a:solidFill>
              <a:srgbClr val="F1E2E8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82496"/>
            <a:ext cx="219456" cy="20116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024128" y="161848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01_Протоколы</a:t>
            </a:r>
            <a:endParaRPr lang="en-US" sz="1250" dirty="0"/>
          </a:p>
        </p:txBody>
      </p:sp>
      <p:sp>
        <p:nvSpPr>
          <p:cNvPr id="11" name="Text 7"/>
          <p:cNvSpPr txBox="1"/>
          <p:nvPr/>
        </p:nvSpPr>
        <p:spPr>
          <a:xfrm>
            <a:off x="3108960" y="1618488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протоколы 01–04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48640" y="2002536"/>
            <a:ext cx="8046720" cy="329184"/>
          </a:xfrm>
          <a:prstGeom prst="roundRect">
            <a:avLst>
              <a:gd name="adj" fmla="val 27778"/>
            </a:avLst>
          </a:prstGeom>
          <a:solidFill>
            <a:srgbClr val="F7E6EC"/>
          </a:solidFill>
          <a:ln w="12700">
            <a:solidFill>
              <a:srgbClr val="F1E2E8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066544"/>
            <a:ext cx="219456" cy="20116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024128" y="2002536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02_Архивы</a:t>
            </a:r>
            <a:endParaRPr lang="en-US" sz="1250" dirty="0"/>
          </a:p>
        </p:txBody>
      </p:sp>
      <p:sp>
        <p:nvSpPr>
          <p:cNvPr id="15" name="Text 10"/>
          <p:cNvSpPr txBox="1"/>
          <p:nvPr/>
        </p:nvSpPr>
        <p:spPr>
          <a:xfrm>
            <a:off x="3108960" y="2002536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Aru_archive_v0.1, v0.2, v0.3…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548640" y="2386584"/>
            <a:ext cx="8046720" cy="329184"/>
          </a:xfrm>
          <a:prstGeom prst="roundRect">
            <a:avLst>
              <a:gd name="adj" fmla="val 27778"/>
            </a:avLst>
          </a:prstGeom>
          <a:solidFill>
            <a:srgbClr val="FFFFFF"/>
          </a:solidFill>
          <a:ln w="12700">
            <a:solidFill>
              <a:srgbClr val="F1E2E8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450592"/>
            <a:ext cx="219456" cy="20116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024128" y="2386584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03_Документы</a:t>
            </a:r>
            <a:endParaRPr lang="en-US" sz="1250" dirty="0"/>
          </a:p>
        </p:txBody>
      </p:sp>
      <p:sp>
        <p:nvSpPr>
          <p:cNvPr id="19" name="Text 13"/>
          <p:cNvSpPr txBox="1"/>
          <p:nvPr/>
        </p:nvSpPr>
        <p:spPr>
          <a:xfrm>
            <a:off x="3108960" y="2386584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описания, путеводитель по прототипу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548640" y="2770632"/>
            <a:ext cx="8046720" cy="329184"/>
          </a:xfrm>
          <a:prstGeom prst="roundRect">
            <a:avLst>
              <a:gd name="adj" fmla="val 27778"/>
            </a:avLst>
          </a:prstGeom>
          <a:solidFill>
            <a:srgbClr val="F7E6EC"/>
          </a:solidFill>
          <a:ln w="12700">
            <a:solidFill>
              <a:srgbClr val="F1E2E8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834640"/>
            <a:ext cx="219456" cy="201168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024128" y="277063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04_Демо-клиентки</a:t>
            </a:r>
            <a:endParaRPr lang="en-US" sz="1250" dirty="0"/>
          </a:p>
        </p:txBody>
      </p:sp>
      <p:sp>
        <p:nvSpPr>
          <p:cNvPr id="23" name="Text 16"/>
          <p:cNvSpPr txBox="1"/>
          <p:nvPr/>
        </p:nvSpPr>
        <p:spPr>
          <a:xfrm>
            <a:off x="3108960" y="2770632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Айгерим, Елена: анкета, Исходник, Примерки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548640" y="3154680"/>
            <a:ext cx="8046720" cy="329184"/>
          </a:xfrm>
          <a:prstGeom prst="roundRect">
            <a:avLst>
              <a:gd name="adj" fmla="val 27778"/>
            </a:avLst>
          </a:prstGeom>
          <a:solidFill>
            <a:srgbClr val="FFFFFF"/>
          </a:solidFill>
          <a:ln w="12700">
            <a:solidFill>
              <a:srgbClr val="F1E2E8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3218688"/>
            <a:ext cx="219456" cy="201168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1024128" y="315468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05_Gumroad</a:t>
            </a:r>
            <a:endParaRPr lang="en-US" sz="1250" dirty="0"/>
          </a:p>
        </p:txBody>
      </p:sp>
      <p:sp>
        <p:nvSpPr>
          <p:cNvPr id="27" name="Text 19"/>
          <p:cNvSpPr txBox="1"/>
          <p:nvPr/>
        </p:nvSpPr>
        <p:spPr>
          <a:xfrm>
            <a:off x="3108960" y="3154680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памятка Aru_Gumroad_настройки.txt + журнал тест-покупок</a:t>
            </a:r>
            <a:endParaRPr lang="en-US" sz="1100" dirty="0"/>
          </a:p>
        </p:txBody>
      </p:sp>
      <p:sp>
        <p:nvSpPr>
          <p:cNvPr id="28" name="Shape 20"/>
          <p:cNvSpPr/>
          <p:nvPr/>
        </p:nvSpPr>
        <p:spPr>
          <a:xfrm>
            <a:off x="548640" y="3538728"/>
            <a:ext cx="8046720" cy="329184"/>
          </a:xfrm>
          <a:prstGeom prst="roundRect">
            <a:avLst>
              <a:gd name="adj" fmla="val 27778"/>
            </a:avLst>
          </a:prstGeom>
          <a:solidFill>
            <a:srgbClr val="EAF4EE"/>
          </a:solidFill>
          <a:ln w="12700">
            <a:solidFill>
              <a:srgbClr val="F1E2E8"/>
            </a:solidFill>
            <a:prstDash val="solid"/>
          </a:ln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3602736"/>
            <a:ext cx="219456" cy="201168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1024128" y="353872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E8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06_Продвижение</a:t>
            </a:r>
            <a:endParaRPr lang="en-US" sz="1250" dirty="0"/>
          </a:p>
        </p:txBody>
      </p:sp>
      <p:sp>
        <p:nvSpPr>
          <p:cNvPr id="31" name="Text 22"/>
          <p:cNvSpPr txBox="1"/>
          <p:nvPr/>
        </p:nvSpPr>
        <p:spPr>
          <a:xfrm>
            <a:off x="3108960" y="3538728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НОВАЯ: видео из Gemini, позже сценарии и ролики</a:t>
            </a:r>
            <a:endParaRPr lang="en-US" sz="1100" dirty="0"/>
          </a:p>
        </p:txBody>
      </p:sp>
      <p:sp>
        <p:nvSpPr>
          <p:cNvPr id="32" name="Shape 23"/>
          <p:cNvSpPr/>
          <p:nvPr/>
        </p:nvSpPr>
        <p:spPr>
          <a:xfrm>
            <a:off x="548640" y="3922776"/>
            <a:ext cx="8046720" cy="329184"/>
          </a:xfrm>
          <a:prstGeom prst="roundRect">
            <a:avLst>
              <a:gd name="adj" fmla="val 27778"/>
            </a:avLst>
          </a:prstGeom>
          <a:solidFill>
            <a:srgbClr val="EAF4EE"/>
          </a:solidFill>
          <a:ln w="12700">
            <a:solidFill>
              <a:srgbClr val="F1E2E8"/>
            </a:solidFill>
            <a:prstDash val="solid"/>
          </a:ln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3986784"/>
            <a:ext cx="219456" cy="201168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1024128" y="3922776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E8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07_Сервер</a:t>
            </a:r>
            <a:endParaRPr lang="en-US" sz="1250" dirty="0"/>
          </a:p>
        </p:txBody>
      </p:sp>
      <p:sp>
        <p:nvSpPr>
          <p:cNvPr id="35" name="Text 25"/>
          <p:cNvSpPr txBox="1"/>
          <p:nvPr/>
        </p:nvSpPr>
        <p:spPr>
          <a:xfrm>
            <a:off x="3108960" y="3922776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НОВАЯ: тексты для Supabase (01_таблицы_клиенток.sql…)</a:t>
            </a:r>
            <a:endParaRPr lang="en-US" sz="1100" dirty="0"/>
          </a:p>
        </p:txBody>
      </p:sp>
      <p:sp>
        <p:nvSpPr>
          <p:cNvPr id="36" name="Shape 26"/>
          <p:cNvSpPr/>
          <p:nvPr/>
        </p:nvSpPr>
        <p:spPr>
          <a:xfrm>
            <a:off x="548640" y="4306824"/>
            <a:ext cx="8046720" cy="329184"/>
          </a:xfrm>
          <a:prstGeom prst="roundRect">
            <a:avLst>
              <a:gd name="adj" fmla="val 27778"/>
            </a:avLst>
          </a:prstGeom>
          <a:solidFill>
            <a:srgbClr val="F7E6EC"/>
          </a:solidFill>
          <a:ln w="12700">
            <a:solidFill>
              <a:srgbClr val="F1E2E8"/>
            </a:solidFill>
            <a:prstDash val="solid"/>
          </a:ln>
        </p:spPr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4370832"/>
            <a:ext cx="219456" cy="201168"/>
          </a:xfrm>
          <a:prstGeom prst="rect">
            <a:avLst/>
          </a:prstGeom>
        </p:spPr>
      </p:pic>
      <p:sp>
        <p:nvSpPr>
          <p:cNvPr id="38" name="Text 27"/>
          <p:cNvSpPr txBox="1"/>
          <p:nvPr/>
        </p:nvSpPr>
        <p:spPr>
          <a:xfrm>
            <a:off x="1024128" y="4306824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E7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99_Старое</a:t>
            </a:r>
            <a:endParaRPr lang="en-US" sz="1250" dirty="0"/>
          </a:p>
        </p:txBody>
      </p:sp>
      <p:sp>
        <p:nvSpPr>
          <p:cNvPr id="39" name="Text 28"/>
          <p:cNvSpPr txBox="1"/>
          <p:nvPr/>
        </p:nvSpPr>
        <p:spPr>
          <a:xfrm>
            <a:off x="3108960" y="4306824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устаревшие версии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 Уроки этапа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3886200" cy="960120"/>
          </a:xfrm>
          <a:prstGeom prst="roundRect">
            <a:avLst>
              <a:gd name="adj" fmla="val 9524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" y="1316736"/>
            <a:ext cx="512064" cy="512064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444752"/>
            <a:ext cx="256032" cy="2560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243584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Цена одна — коды разные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Своим скидка кодом, цену для всех не трогаем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4617720" y="1097280"/>
            <a:ext cx="3886200" cy="960120"/>
          </a:xfrm>
          <a:prstGeom prst="roundRect">
            <a:avLst>
              <a:gd name="adj" fmla="val 9524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782312" y="1316736"/>
            <a:ext cx="512064" cy="512064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328" y="1444752"/>
            <a:ext cx="256032" cy="25603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440680" y="1243584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Тест-покупки — в инкогнито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не с почты, на которую заведён Gumroad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548640" y="2240280"/>
            <a:ext cx="3886200" cy="960120"/>
          </a:xfrm>
          <a:prstGeom prst="roundRect">
            <a:avLst>
              <a:gd name="adj" fmla="val 9524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13232" y="2459736"/>
            <a:ext cx="512064" cy="512064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587752"/>
            <a:ext cx="256032" cy="25603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71600" y="2386584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Журнал тест-покупок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Ключи и пароли тестов — в памятке 05_Gumroad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4617720" y="2240280"/>
            <a:ext cx="3886200" cy="960120"/>
          </a:xfrm>
          <a:prstGeom prst="roundRect">
            <a:avLst>
              <a:gd name="adj" fmla="val 9524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4782312" y="2459736"/>
            <a:ext cx="512064" cy="512064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0328" y="2587752"/>
            <a:ext cx="256032" cy="25603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440680" y="2386584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Коннектор = скорость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подключён — сервер делает Claude</a:t>
            </a:r>
            <a:endParaRPr lang="en-US" sz="1350" dirty="0"/>
          </a:p>
        </p:txBody>
      </p:sp>
      <p:sp>
        <p:nvSpPr>
          <p:cNvPr id="19" name="Shape 13"/>
          <p:cNvSpPr/>
          <p:nvPr/>
        </p:nvSpPr>
        <p:spPr>
          <a:xfrm>
            <a:off x="548640" y="3383280"/>
            <a:ext cx="3886200" cy="960120"/>
          </a:xfrm>
          <a:prstGeom prst="roundRect">
            <a:avLst>
              <a:gd name="adj" fmla="val 9524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713232" y="3602736"/>
            <a:ext cx="512064" cy="512064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3730752"/>
            <a:ext cx="256032" cy="256032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371600" y="3529584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Секреты — только у вас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Пароли и ключи Gemini в чат не присылаем</a:t>
            </a:r>
            <a:endParaRPr lang="en-US" sz="1350" dirty="0"/>
          </a:p>
        </p:txBody>
      </p:sp>
      <p:sp>
        <p:nvSpPr>
          <p:cNvPr id="23" name="Shape 16"/>
          <p:cNvSpPr/>
          <p:nvPr/>
        </p:nvSpPr>
        <p:spPr>
          <a:xfrm>
            <a:off x="4617720" y="3383280"/>
            <a:ext cx="3886200" cy="960120"/>
          </a:xfrm>
          <a:prstGeom prst="roundRect">
            <a:avLst>
              <a:gd name="adj" fmla="val 9524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4782312" y="3602736"/>
            <a:ext cx="512064" cy="512064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0328" y="3730752"/>
            <a:ext cx="256032" cy="256032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5440680" y="3529584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Старое на экране — Ctrl + F5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Браузер помнит прошлую версию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 Доработки и следующие шаги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088136"/>
            <a:ext cx="365760" cy="365760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088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0515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Доработка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2560320" y="105156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каждого аккаунта свой разбор и своя Панель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365760" cy="365760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165506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Доработка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560320" y="1655064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Вверху видно, кто вошёл; «Выйти» под рукой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295144"/>
            <a:ext cx="365760" cy="365760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2295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225856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560320" y="2258568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 Gemini в секреты Supabase + лимит расходов в Google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2898648"/>
            <a:ext cx="365760" cy="36576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2898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286207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фото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2560320" y="2862072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Настоящий цветотип по фото — тест на 6 клиентках разного возраста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3502152"/>
            <a:ext cx="365760" cy="365760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35021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051560" y="346557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Примерка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2560320" y="3465576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«Как было / Как стало» на фото клиентки, со списанием из лимита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4105656"/>
            <a:ext cx="365760" cy="36576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41056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051560" y="4069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2560320" y="406908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Лендинг ведёт на kvantor.gumroad.com/l/aru, ролики в 06_Продвижение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ru">
  <a:themeElements>
    <a:clrScheme name="Aru">
      <a:dk1>
        <a:srgbClr val="2B1A22"/>
      </a:dk1>
      <a:lt1>
        <a:srgbClr val="FFFFFF"/>
      </a:lt1>
      <a:dk2>
        <a:srgbClr val="6D2E46"/>
      </a:dk2>
      <a:lt2>
        <a:srgbClr val="F7E6EC"/>
      </a:lt2>
      <a:accent1>
        <a:srgbClr val="C2456E"/>
      </a:accent1>
      <a:accent2>
        <a:srgbClr val="6D2E46"/>
      </a:accent2>
      <a:accent3>
        <a:srgbClr val="D9A441"/>
      </a:accent3>
      <a:accent4>
        <a:srgbClr val="A26769"/>
      </a:accent4>
      <a:accent5>
        <a:srgbClr val="8E6C88"/>
      </a:accent5>
      <a:accent6>
        <a:srgbClr val="3E8A68"/>
      </a:accent6>
      <a:hlink>
        <a:srgbClr val="C2456E"/>
      </a:hlink>
      <a:folHlink>
        <a:srgbClr val="6D2E46"/>
      </a:folHlink>
    </a:clrScheme>
    <a:fontScheme name="Aru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Протокол №4 — Оплата, ключи и сервер</dc:title>
  <dc:subject>PptxGenJS Presentation</dc:subject>
  <dc:creator>Проект Aru</dc:creator>
  <cp:lastModifiedBy>Проект Aru</cp:lastModifiedBy>
  <cp:revision>1</cp:revision>
  <dcterms:created xsi:type="dcterms:W3CDTF">2026-10-24T13:51:27Z</dcterms:created>
  <dcterms:modified xsi:type="dcterms:W3CDTF">2026-10-24T13:51:27Z</dcterms:modified>
</cp:coreProperties>
</file>