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493776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3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300" dirty="0"/>
          </a:p>
        </p:txBody>
      </p:sp>
      <p:sp>
        <p:nvSpPr>
          <p:cNvPr id="3" name="Text 0"/>
          <p:cNvSpPr/>
          <p:nvPr/>
        </p:nvSpPr>
        <p:spPr>
          <a:xfrm>
            <a:off x="548640" y="48006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Протокол №6  ·  25–26.10.2026  ·  Проект Aru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image" Target="../media/image-21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Протокол №6  ·  учебник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82296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Причёски, настоящий путь клиентки, тарифы и живой шоу-рум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8892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3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сделано 25–26 октября: от причёсок Айгерим до сервера, который сам делает разбор и примерки. Что изменилось на лендинге и в шоу-руме. Что ждёт оплаты Google и что дальше.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51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9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октября 2026, 13:00 — 26 октября, 05:10</a:t>
            </a:r>
            <a:endParaRPr lang="en-US" sz="1250" dirty="0"/>
          </a:p>
        </p:txBody>
      </p:sp>
      <p:pic>
        <p:nvPicPr>
          <p:cNvPr id="6" name="Image 0" descr="/home/claude/aru-repo/app/img/hair/aigerim-sha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855470"/>
            <a:ext cx="3383280" cy="1409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Итог этапа: что появилось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886200" cy="768096"/>
          </a:xfrm>
          <a:prstGeom prst="roundRect">
            <a:avLst>
              <a:gd name="adj" fmla="val 11905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143000"/>
            <a:ext cx="493776" cy="493776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261872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98448" y="1078992"/>
            <a:ext cx="30449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«Причёски»</a:t>
            </a:r>
            <a:endParaRPr lang="en-US" sz="1300" dirty="0"/>
          </a:p>
          <a:p>
            <a:pPr indent="0" marL="0">
              <a:buNone/>
            </a:pPr>
            <a:r>
              <a:rPr lang="en-US" sz="108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стрижек на её фото, 3 ракурса, «Показать мастеру»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617720" y="1005840"/>
            <a:ext cx="3886200" cy="768096"/>
          </a:xfrm>
          <a:prstGeom prst="roundRect">
            <a:avLst>
              <a:gd name="adj" fmla="val 11905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754880" y="1143000"/>
            <a:ext cx="493776" cy="493776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1261872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367528" y="1078992"/>
            <a:ext cx="30449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Настоящий путь клиентки</a:t>
            </a:r>
            <a:endParaRPr lang="en-US" sz="1300" dirty="0"/>
          </a:p>
          <a:p>
            <a:pPr indent="0" marL="0">
              <a:buNone/>
            </a:pPr>
            <a:r>
              <a:rPr lang="en-US" sz="108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Её фото → её разбор → её примерки (сервер aru-ai)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1929384"/>
            <a:ext cx="3886200" cy="768096"/>
          </a:xfrm>
          <a:prstGeom prst="roundRect">
            <a:avLst>
              <a:gd name="adj" fmla="val 11905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85800" y="2066544"/>
            <a:ext cx="493776" cy="493776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185416"/>
            <a:ext cx="256032" cy="2560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98448" y="2002536"/>
            <a:ext cx="30449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«Свой вариант» её словами</a:t>
            </a:r>
            <a:endParaRPr lang="en-US" sz="1300" dirty="0"/>
          </a:p>
          <a:p>
            <a:pPr indent="0" marL="0">
              <a:buNone/>
            </a:pPr>
            <a:r>
              <a:rPr lang="en-US" sz="108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 в анкете и свой образ / своя стрижка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617720" y="1929384"/>
            <a:ext cx="3886200" cy="768096"/>
          </a:xfrm>
          <a:prstGeom prst="roundRect">
            <a:avLst>
              <a:gd name="adj" fmla="val 11905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754880" y="2066544"/>
            <a:ext cx="493776" cy="493776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2185416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367528" y="2002536"/>
            <a:ext cx="30449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Тарифы Стандарт и VIP</a:t>
            </a:r>
            <a:endParaRPr lang="en-US" sz="1300" dirty="0"/>
          </a:p>
          <a:p>
            <a:pPr indent="0" marL="0">
              <a:buNone/>
            </a:pPr>
            <a:r>
              <a:rPr lang="en-US" sz="108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 автоматически; VIP — через WhatsApp и Kaspi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548640" y="2852928"/>
            <a:ext cx="3886200" cy="768096"/>
          </a:xfrm>
          <a:prstGeom prst="roundRect">
            <a:avLst>
              <a:gd name="adj" fmla="val 11905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85800" y="2990088"/>
            <a:ext cx="493776" cy="493776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3108960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298448" y="2926080"/>
            <a:ext cx="30449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Страница управления</a:t>
            </a:r>
            <a:endParaRPr lang="en-US" sz="1300" dirty="0"/>
          </a:p>
          <a:p>
            <a:pPr indent="0" marL="0">
              <a:buNone/>
            </a:pPr>
            <a:r>
              <a:rPr lang="en-US" sz="108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Выдать доступ клиентке, оплатившей через Kaspi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4617720" y="2852928"/>
            <a:ext cx="3886200" cy="768096"/>
          </a:xfrm>
          <a:prstGeom prst="roundRect">
            <a:avLst>
              <a:gd name="adj" fmla="val 11905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4754880" y="2990088"/>
            <a:ext cx="493776" cy="493776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3108960"/>
            <a:ext cx="256032" cy="256032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367528" y="2926080"/>
            <a:ext cx="30449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Ползунок «Как было / Как стало»</a:t>
            </a:r>
            <a:endParaRPr lang="en-US" sz="1300" dirty="0"/>
          </a:p>
          <a:p>
            <a:pPr indent="0" marL="0">
              <a:buNone/>
            </a:pPr>
            <a:r>
              <a:rPr lang="en-US" sz="108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шоу-руме, на лендинге и в приложении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548640" y="3776472"/>
            <a:ext cx="3886200" cy="768096"/>
          </a:xfrm>
          <a:prstGeom prst="roundRect">
            <a:avLst>
              <a:gd name="adj" fmla="val 11905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685800" y="3913632"/>
            <a:ext cx="493776" cy="493776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" y="4032504"/>
            <a:ext cx="256032" cy="256032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1298448" y="3849624"/>
            <a:ext cx="30449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aru.stilist</a:t>
            </a:r>
            <a:endParaRPr lang="en-US" sz="1300" dirty="0"/>
          </a:p>
          <a:p>
            <a:pPr indent="0" marL="0">
              <a:buNone/>
            </a:pPr>
            <a:r>
              <a:rPr lang="en-US" sz="108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 переоформлен под Aru</a:t>
            </a:r>
            <a:endParaRPr lang="en-US" sz="1300" dirty="0"/>
          </a:p>
        </p:txBody>
      </p:sp>
      <p:sp>
        <p:nvSpPr>
          <p:cNvPr id="31" name="Shape 22"/>
          <p:cNvSpPr/>
          <p:nvPr/>
        </p:nvSpPr>
        <p:spPr>
          <a:xfrm>
            <a:off x="4617720" y="3776472"/>
            <a:ext cx="3886200" cy="768096"/>
          </a:xfrm>
          <a:prstGeom prst="roundRect">
            <a:avLst>
              <a:gd name="adj" fmla="val 11905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4754880" y="3913632"/>
            <a:ext cx="493776" cy="493776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73752" y="4032504"/>
            <a:ext cx="256032" cy="256032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5367528" y="3849624"/>
            <a:ext cx="30449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Видео: сценарии и голос</a:t>
            </a:r>
            <a:endParaRPr lang="en-US" sz="1300" dirty="0"/>
          </a:p>
          <a:p>
            <a:pPr indent="0" marL="0">
              <a:buNone/>
            </a:pPr>
            <a:r>
              <a:rPr lang="en-US" sz="108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истории для шоу-рума + видеопрезентация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Где мы сейчас: путь клиентки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работает · ⚠️ готово, ждёт оплаты Google · 🔲 будет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371600" cy="1005840"/>
          </a:xfrm>
          <a:prstGeom prst="roundRect">
            <a:avLst>
              <a:gd name="adj" fmla="val 9091"/>
            </a:avLst>
          </a:prstGeom>
          <a:solidFill>
            <a:srgbClr val="FCEFD9"/>
          </a:solidFill>
          <a:ln w="12700">
            <a:solidFill>
              <a:srgbClr val="FCEF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2588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Instagram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aru.stilist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938528" y="1719072"/>
            <a:ext cx="219456" cy="219456"/>
          </a:xfrm>
          <a:prstGeom prst="rightArrow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76272" y="1325880"/>
            <a:ext cx="1371600" cy="1005840"/>
          </a:xfrm>
          <a:prstGeom prst="roundRect">
            <a:avLst>
              <a:gd name="adj" fmla="val 9091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21992" y="132588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Лендинг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 + VIP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566160" y="1719072"/>
            <a:ext cx="219456" cy="219456"/>
          </a:xfrm>
          <a:prstGeom prst="rightArrow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03904" y="1325880"/>
            <a:ext cx="1371600" cy="1005840"/>
          </a:xfrm>
          <a:prstGeom prst="roundRect">
            <a:avLst>
              <a:gd name="adj" fmla="val 9091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49624" y="132588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Шоу-рум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ползунок, истории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193792" y="1719072"/>
            <a:ext cx="219456" cy="219456"/>
          </a:xfrm>
          <a:prstGeom prst="rightArrow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31536" y="1325880"/>
            <a:ext cx="1371600" cy="1005840"/>
          </a:xfrm>
          <a:prstGeom prst="roundRect">
            <a:avLst>
              <a:gd name="adj" fmla="val 9091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77256" y="132588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Оплата $29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автоматически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21424" y="1719072"/>
            <a:ext cx="219456" cy="219456"/>
          </a:xfrm>
          <a:prstGeom prst="rightArrow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59168" y="1325880"/>
            <a:ext cx="1371600" cy="1005840"/>
          </a:xfrm>
          <a:prstGeom prst="roundRect">
            <a:avLst>
              <a:gd name="adj" fmla="val 9091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04888" y="132588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Ключ, вход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почта + пароль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2743200"/>
            <a:ext cx="1371600" cy="1005840"/>
          </a:xfrm>
          <a:prstGeom prst="roundRect">
            <a:avLst>
              <a:gd name="adj" fmla="val 9091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274320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Фото, анкета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своими словами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938528" y="3136392"/>
            <a:ext cx="219456" cy="219456"/>
          </a:xfrm>
          <a:prstGeom prst="rightArrow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76272" y="2743200"/>
            <a:ext cx="1371600" cy="1005840"/>
          </a:xfrm>
          <a:prstGeom prst="roundRect">
            <a:avLst>
              <a:gd name="adj" fmla="val 9091"/>
            </a:avLst>
          </a:prstGeom>
          <a:solidFill>
            <a:srgbClr val="FCEFD9"/>
          </a:solidFill>
          <a:ln w="12700">
            <a:solidFill>
              <a:srgbClr val="FCEFD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221992" y="274320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Разбор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её цветотип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566160" y="3136392"/>
            <a:ext cx="219456" cy="219456"/>
          </a:xfrm>
          <a:prstGeom prst="rightArrow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03904" y="2743200"/>
            <a:ext cx="1371600" cy="1005840"/>
          </a:xfrm>
          <a:prstGeom prst="roundRect">
            <a:avLst>
              <a:gd name="adj" fmla="val 9091"/>
            </a:avLst>
          </a:prstGeom>
          <a:solidFill>
            <a:srgbClr val="FCEFD9"/>
          </a:solidFill>
          <a:ln w="12700">
            <a:solidFill>
              <a:srgbClr val="FCEFD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849624" y="274320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Причёски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+ своя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193792" y="3136392"/>
            <a:ext cx="219456" cy="219456"/>
          </a:xfrm>
          <a:prstGeom prst="rightArrow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31536" y="2743200"/>
            <a:ext cx="1371600" cy="1005840"/>
          </a:xfrm>
          <a:prstGeom prst="roundRect">
            <a:avLst>
              <a:gd name="adj" fmla="val 9091"/>
            </a:avLst>
          </a:prstGeom>
          <a:solidFill>
            <a:srgbClr val="FCEFD9"/>
          </a:solidFill>
          <a:ln w="12700">
            <a:solidFill>
              <a:srgbClr val="FCEFD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77256" y="274320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Образы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+ свой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821424" y="3136392"/>
            <a:ext cx="219456" cy="219456"/>
          </a:xfrm>
          <a:prstGeom prst="rightArrow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59168" y="2743200"/>
            <a:ext cx="1371600" cy="1005840"/>
          </a:xfrm>
          <a:prstGeom prst="roundRect">
            <a:avLst>
              <a:gd name="adj" fmla="val 9091"/>
            </a:avLst>
          </a:prstGeom>
          <a:solidFill>
            <a:srgbClr val="FCEFD9"/>
          </a:solidFill>
          <a:ln w="12700">
            <a:solidFill>
              <a:srgbClr val="FCEFD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104888" y="274320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PDF, мастер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паспорт, WhatsApp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48640" y="4069080"/>
            <a:ext cx="8046720" cy="594360"/>
          </a:xfrm>
          <a:prstGeom prst="roundRect">
            <a:avLst>
              <a:gd name="adj" fmla="val 15385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31520" y="406908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«⚠️» уже написано и проверено на тестовой ИИ-героине. Включается одним секретом GEMINI_PAID = 1 после оплаты Google.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Лендинг: что нового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Бибигуль апа в примерах, ползунок, новый раздел «Причёски».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67646" y="1298448"/>
            <a:ext cx="3693907" cy="3209544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5" name="Image 0" descr="/tmp/claude-0/-home-claude/0f6f79f4-524c-52dc-a6cd-3191363a22d6/scratchpad/p6/l_de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078" y="1325880"/>
            <a:ext cx="3639043" cy="3154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636008" y="1779765"/>
            <a:ext cx="3986784" cy="2246909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7" name="Image 1" descr="/tmp/claude-0/-home-claude/0f6f79f4-524c-52dc-a6cd-3191363a22d6/scratchpad/p6/l_hai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807197"/>
            <a:ext cx="3931920" cy="219204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4526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Примеры: Айгерим, Елена, Бибигуль апа</a:t>
            </a:r>
            <a:endParaRPr lang="en-US" sz="1050" dirty="0"/>
          </a:p>
        </p:txBody>
      </p:sp>
      <p:sp>
        <p:nvSpPr>
          <p:cNvPr id="9" name="Text 5"/>
          <p:cNvSpPr txBox="1"/>
          <p:nvPr/>
        </p:nvSpPr>
        <p:spPr>
          <a:xfrm>
            <a:off x="4663440" y="4526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«Причёски: увидеть себя до салона»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Тарифы: Стандарт и VIP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 кнопки «Купить». Стандарт — сразу и автоматически, VIP — расширенный объём через вас.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42678" y="1298448"/>
            <a:ext cx="3343844" cy="3209544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5" name="Image 0" descr="/tmp/claude-0/-home-claude/0f6f79f4-524c-52dc-a6cd-3191363a22d6/scratchpad/p6/l_pr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110" y="1325880"/>
            <a:ext cx="3288980" cy="3154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636008" y="1401318"/>
            <a:ext cx="3986784" cy="3003804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7" name="Image 1" descr="/tmp/claude-0/-home-claude/0f6f79f4-524c-52dc-a6cd-3191363a22d6/scratchpad/p6/l_v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428750"/>
            <a:ext cx="3931920" cy="29489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4526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«Выберите свой вариант»</a:t>
            </a:r>
            <a:endParaRPr lang="en-US" sz="1050" dirty="0"/>
          </a:p>
        </p:txBody>
      </p:sp>
      <p:sp>
        <p:nvSpPr>
          <p:cNvPr id="9" name="Text 5"/>
          <p:cNvSpPr txBox="1"/>
          <p:nvPr/>
        </p:nvSpPr>
        <p:spPr>
          <a:xfrm>
            <a:off x="4663440" y="4526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Окно «Расширенный Aru» по кнопке «Купить VIP»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Цена и правило «везде одинаково»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886200" cy="914400"/>
          </a:xfrm>
          <a:prstGeom prst="roundRect">
            <a:avLst>
              <a:gd name="adj" fmla="val 10000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216152"/>
            <a:ext cx="493776" cy="493776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335024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98448" y="1078992"/>
            <a:ext cx="30449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 — $29 в месяц</a:t>
            </a:r>
            <a:endParaRPr lang="en-US" sz="1300" dirty="0"/>
          </a:p>
          <a:p>
            <a:pPr indent="0" marL="0">
              <a:buNone/>
            </a:pPr>
            <a:r>
              <a:rPr lang="en-US" sz="108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в Gumroad. Поднимать до $39 пока не стали: пришлось бы менять товар и код SEMYA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617720" y="1005840"/>
            <a:ext cx="3886200" cy="914400"/>
          </a:xfrm>
          <a:prstGeom prst="roundRect">
            <a:avLst>
              <a:gd name="adj" fmla="val 10000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754880" y="1216152"/>
            <a:ext cx="493776" cy="493776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133502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367528" y="1078992"/>
            <a:ext cx="30449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SEMYA</a:t>
            </a:r>
            <a:endParaRPr lang="en-US" sz="1300" dirty="0"/>
          </a:p>
          <a:p>
            <a:pPr indent="0" marL="0">
              <a:buNone/>
            </a:pPr>
            <a:r>
              <a:rPr lang="en-US" sz="108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Родственникам и себе для теста — покупка за $1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2075688"/>
            <a:ext cx="3886200" cy="914400"/>
          </a:xfrm>
          <a:prstGeom prst="roundRect">
            <a:avLst>
              <a:gd name="adj" fmla="val 10000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85800" y="2286000"/>
            <a:ext cx="493776" cy="493776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404872"/>
            <a:ext cx="256032" cy="2560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98448" y="2148840"/>
            <a:ext cx="30449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— по договорённости</a:t>
            </a:r>
            <a:endParaRPr lang="en-US" sz="1300" dirty="0"/>
          </a:p>
          <a:p>
            <a:pPr indent="0" marL="0">
              <a:buNone/>
            </a:pPr>
            <a:r>
              <a:rPr lang="en-US" sz="108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Например 130 примерок вместо 30, видео, личная связь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617720" y="2075688"/>
            <a:ext cx="3886200" cy="914400"/>
          </a:xfrm>
          <a:prstGeom prst="roundRect">
            <a:avLst>
              <a:gd name="adj" fmla="val 10000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754880" y="2286000"/>
            <a:ext cx="493776" cy="493776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2404872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367528" y="2148840"/>
            <a:ext cx="30449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Слова Gumroad нигде нет</a:t>
            </a:r>
            <a:endParaRPr lang="en-US" sz="1300" dirty="0"/>
          </a:p>
          <a:p>
            <a:pPr indent="0" marL="0">
              <a:buNone/>
            </a:pPr>
            <a:r>
              <a:rPr lang="en-US" sz="108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 на лендинге, ни в приложении: просто «Купить»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548640" y="3145536"/>
            <a:ext cx="3886200" cy="914400"/>
          </a:xfrm>
          <a:prstGeom prst="roundRect">
            <a:avLst>
              <a:gd name="adj" fmla="val 10000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85800" y="3355848"/>
            <a:ext cx="493776" cy="493776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3474720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298448" y="3218688"/>
            <a:ext cx="30449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в один</a:t>
            </a:r>
            <a:endParaRPr lang="en-US" sz="1300" dirty="0"/>
          </a:p>
          <a:p>
            <a:pPr indent="0" marL="0">
              <a:buNone/>
            </a:pPr>
            <a:r>
              <a:rPr lang="en-US" sz="108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Любое изменение — сразу в приложении, на лендинге и в шоу-руме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4617720" y="3145536"/>
            <a:ext cx="3886200" cy="914400"/>
          </a:xfrm>
          <a:prstGeom prst="roundRect">
            <a:avLst>
              <a:gd name="adj" fmla="val 10000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4754880" y="3355848"/>
            <a:ext cx="493776" cy="493776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3474720"/>
            <a:ext cx="256032" cy="256032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367528" y="3218688"/>
            <a:ext cx="30449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«прототипа»</a:t>
            </a:r>
            <a:endParaRPr lang="en-US" sz="1300" dirty="0"/>
          </a:p>
          <a:p>
            <a:pPr indent="0" marL="0">
              <a:buNone/>
            </a:pPr>
            <a:r>
              <a:rPr lang="en-US" sz="108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аккаунте пометок нет; демо помечено «демо»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Приложение: «Причёски»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Вкладки внизу: Панель · Причёски · Проверить · Образы · Стилист.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734347" y="1298448"/>
            <a:ext cx="1560507" cy="3209544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5" name="Image 0" descr="/tmp/claude-0/-home-claude/0f6f79f4-524c-52dc-a6cd-3191363a22d6/scratchpad/p6/a_ha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1779" y="1325880"/>
            <a:ext cx="1505643" cy="3154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49147" y="1298448"/>
            <a:ext cx="1560507" cy="3209544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7" name="Image 1" descr="/tmp/claude-0/-home-claude/0f6f79f4-524c-52dc-a6cd-3191363a22d6/scratchpad/p6/a_mas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579" y="1325880"/>
            <a:ext cx="1505643" cy="31546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4526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стрижек, 3 ракурса листаются пальцем</a:t>
            </a:r>
            <a:endParaRPr lang="en-US" sz="1050" dirty="0"/>
          </a:p>
        </p:txBody>
      </p:sp>
      <p:sp>
        <p:nvSpPr>
          <p:cNvPr id="9" name="Text 5"/>
          <p:cNvSpPr txBox="1"/>
          <p:nvPr/>
        </p:nvSpPr>
        <p:spPr>
          <a:xfrm>
            <a:off x="4663440" y="4526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Карточка для салона: длина, чёлка, укладка, цвет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Ползунок «Как было / Как стало»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эмоциональный приём: превращение на глазах.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37490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работает</a:t>
            </a:r>
            <a:endParaRPr lang="en-US" sz="1350" dirty="0"/>
          </a:p>
          <a:p>
            <a:pPr indent="0" marL="0">
              <a:buNone/>
            </a:pPr>
            <a:r>
              <a:rPr lang="en-US" sz="113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Белая линия с кружком посередине фото. Тянете — серый образ превращается в яркий.</a:t>
            </a:r>
            <a:endParaRPr lang="en-US" sz="1350" dirty="0"/>
          </a:p>
          <a:p>
            <a:pPr indent="0" marL="0">
              <a:buNone/>
            </a:pPr>
            <a:r>
              <a:rPr lang="en-US" sz="5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 подсказывает</a:t>
            </a:r>
            <a:endParaRPr lang="en-US" sz="1350" dirty="0"/>
          </a:p>
          <a:p>
            <a:pPr indent="0" marL="0">
              <a:buNone/>
            </a:pPr>
            <a:r>
              <a:rPr lang="en-US" sz="113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открытии линия один раз «проезжает» по фото, чтобы было понятно, что её можно тянуть.</a:t>
            </a:r>
            <a:endParaRPr lang="en-US" sz="1350" dirty="0"/>
          </a:p>
          <a:p>
            <a:pPr indent="0" marL="0">
              <a:buNone/>
            </a:pPr>
            <a:r>
              <a:rPr lang="en-US" sz="5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есть</a:t>
            </a:r>
            <a:endParaRPr lang="en-US" sz="1350" dirty="0"/>
          </a:p>
          <a:p>
            <a:pPr indent="0" marL="0">
              <a:buNone/>
            </a:pPr>
            <a:r>
              <a:rPr lang="en-US" sz="113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Шоу-рум, лендинг (примеры и причёски), приложение (Образы).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453128" y="1275588"/>
            <a:ext cx="4169664" cy="3483864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6" name="Image 0" descr="/tmp/claude-0/-home-claude/0f6f79f4-524c-52dc-a6cd-3191363a22d6/scratchpad/p6/s_cm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303020"/>
            <a:ext cx="4114800" cy="3429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Шоу-рум: истории от первого лица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Цитата героини вверху — вместо сухого описания.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37490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Бибигуль апа</a:t>
            </a:r>
            <a:endParaRPr lang="en-US" sz="1350" dirty="0"/>
          </a:p>
          <a:p>
            <a:pPr indent="0" marL="0">
              <a:buNone/>
            </a:pPr>
            <a:r>
              <a:rPr lang="en-US" sz="113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«…увидела себя в сапфире и белом, и внучка сказала: «Апа, ты сияешь»»</a:t>
            </a:r>
            <a:endParaRPr lang="en-US" sz="1350" dirty="0"/>
          </a:p>
          <a:p>
            <a:pPr indent="0" marL="0">
              <a:buNone/>
            </a:pPr>
            <a:r>
              <a:rPr lang="en-US" sz="5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Елена</a:t>
            </a:r>
            <a:endParaRPr lang="en-US" sz="1350" dirty="0"/>
          </a:p>
          <a:p>
            <a:pPr indent="0" marL="0">
              <a:buNone/>
            </a:pPr>
            <a:r>
              <a:rPr lang="en-US" sz="113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«…теперь коллеги спрашивают, что у меня случилось хорошего»</a:t>
            </a:r>
            <a:endParaRPr lang="en-US" sz="1350" dirty="0"/>
          </a:p>
          <a:p>
            <a:pPr indent="0" marL="0">
              <a:buNone/>
            </a:pPr>
            <a:r>
              <a:rPr lang="en-US" sz="5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Айгерим</a:t>
            </a:r>
            <a:endParaRPr lang="en-US" sz="1350" dirty="0"/>
          </a:p>
          <a:p>
            <a:pPr indent="0" marL="0">
              <a:buNone/>
            </a:pPr>
            <a:r>
              <a:rPr lang="en-US" sz="113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«Шкаф полный, а надеть нечего — это про меня…»</a:t>
            </a:r>
            <a:endParaRPr lang="en-US" sz="1350" dirty="0"/>
          </a:p>
          <a:p>
            <a:pPr indent="0" marL="0">
              <a:buNone/>
            </a:pPr>
            <a:r>
              <a:rPr lang="en-US" sz="5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Адрес</a:t>
            </a:r>
            <a:endParaRPr lang="en-US" sz="1350" dirty="0"/>
          </a:p>
          <a:p>
            <a:pPr indent="0" marL="0">
              <a:buNone/>
            </a:pPr>
            <a:r>
              <a:rPr lang="en-US" sz="113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mn-stilist.github.io/aru/showroom/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453128" y="1275588"/>
            <a:ext cx="4169664" cy="3483864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6" name="Image 0" descr="/tmp/claude-0/-home-claude/0f6f79f4-524c-52dc-a6cd-3191363a22d6/scratchpad/p6/s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303020"/>
            <a:ext cx="4114800" cy="3429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Настоящий путь: что делает сервер aru-ai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Клиентка нажимает кнопки — всё остальное происходит за кулисами.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7E6EC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2588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3258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Её 2 фото и анкета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132588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сохраняются в закрытом хранилище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1993392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99339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199339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1993392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смотрит на лицо: цветотип, 12+6 цветов, металл, волосы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660904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7E6EC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266090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✂️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266090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Примерка причёски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0" y="2660904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её лицо + стрижка в её оттенке, 3 ракурса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328416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32841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👗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32841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Примерка образа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657600" y="3328416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её лицо + одежда её цветов, с учётом роста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995928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7E6EC"/>
          </a:solidFill>
          <a:ln w="12700">
            <a:solidFill>
              <a:srgbClr val="F1E2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399592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399592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Паспорт и мастер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657600" y="399592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и WhatsApp из её результатов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Разбор и примерка — две ступени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3931920" cy="2194560"/>
          </a:xfrm>
          <a:prstGeom prst="roundRect">
            <a:avLst>
              <a:gd name="adj" fmla="val 4167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663440" y="1051560"/>
            <a:ext cx="3931920" cy="2194560"/>
          </a:xfrm>
          <a:prstGeom prst="roundRect">
            <a:avLst>
              <a:gd name="adj" fmla="val 4167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14300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Разбор — «диагноз»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 и цвета: цветотип, 12 её цветов и 6 «не её», металл, оттенки волос, форма лица. Без картинок. Не тратит примерки — повторить можно, если фото было неудачным или она перекрасилась.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846320" y="114300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E8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Примерка — результат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Фотография «вот так ты будешь выглядеть»: она сама в причёске или образе, в своих цветах. Одна картинка = одна примерка из 30.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2560320" cy="1234440"/>
          </a:xfrm>
          <a:prstGeom prst="roundRect">
            <a:avLst>
              <a:gd name="adj" fmla="val 7407"/>
            </a:avLst>
          </a:prstGeom>
          <a:solidFill>
            <a:srgbClr val="FCEFD9"/>
          </a:solidFill>
          <a:ln w="12700">
            <a:solidFill>
              <a:srgbClr val="FCEF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474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40233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примерок в месяц, счётчик обнуляется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0" y="3429000"/>
            <a:ext cx="2560320" cy="1234440"/>
          </a:xfrm>
          <a:prstGeom prst="roundRect">
            <a:avLst>
              <a:gd name="adj" fmla="val 7407"/>
            </a:avLst>
          </a:prstGeom>
          <a:solidFill>
            <a:srgbClr val="FCEFD9"/>
          </a:solidFill>
          <a:ln w="12700">
            <a:solidFill>
              <a:srgbClr val="FCEF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91840" y="3474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40233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действий в час — защита от случайного «съедания» лимита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0" y="3429000"/>
            <a:ext cx="2560320" cy="1234440"/>
          </a:xfrm>
          <a:prstGeom prst="roundRect">
            <a:avLst>
              <a:gd name="adj" fmla="val 7407"/>
            </a:avLst>
          </a:prstGeom>
          <a:solidFill>
            <a:srgbClr val="FCEFD9"/>
          </a:solidFill>
          <a:ln w="12700">
            <a:solidFill>
              <a:srgbClr val="FCEF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35040" y="3474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~4¢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40233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стоит одна примерка вам; 30 примерок ≈ $1.2 из её $29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«Свой вариант» — её словами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было с Мирой: написала, чего хочет, — и увидела себя в этом.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751076" y="1298448"/>
            <a:ext cx="1527048" cy="3209544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5" name="Image 0" descr="/tmp/claude-0/-home-claude/0f6f79f4-524c-52dc-a6cd-3191363a22d6/scratchpad/p6/c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8508" y="1325880"/>
            <a:ext cx="1472184" cy="3154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65876" y="1298448"/>
            <a:ext cx="1527048" cy="3209544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7" name="Image 1" descr="/tmp/claude-0/-home-claude/0f6f79f4-524c-52dc-a6cd-3191363a22d6/scratchpad/p6/c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3308" y="1325880"/>
            <a:ext cx="1472184" cy="31546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4526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Анкета: «Расскажите своими словами»</a:t>
            </a:r>
            <a:endParaRPr lang="en-US" sz="1050" dirty="0"/>
          </a:p>
        </p:txBody>
      </p:sp>
      <p:sp>
        <p:nvSpPr>
          <p:cNvPr id="9" name="Text 5"/>
          <p:cNvSpPr txBox="1"/>
          <p:nvPr/>
        </p:nvSpPr>
        <p:spPr>
          <a:xfrm>
            <a:off x="4663440" y="4526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Образы → «✍ Свой вариант» → «Примерить на мне»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видит клиентка до оплаты Google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Ничего не ломается: фото и анкета сохраняются, разбор «скоро будет готов».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999211" y="1298448"/>
            <a:ext cx="3030779" cy="3209544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5" name="Image 0" descr="/tmp/claude-0/-home-claude/0f6f79f4-524c-52dc-a6cd-3191363a22d6/scratchpad/p6/p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643" y="1325880"/>
            <a:ext cx="2975915" cy="3154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65876" y="1298448"/>
            <a:ext cx="1527048" cy="3209544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7" name="Image 1" descr="/tmp/claude-0/-home-claude/0f6f79f4-524c-52dc-a6cd-3191363a22d6/scratchpad/p6/r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3308" y="1325880"/>
            <a:ext cx="1472184" cy="31546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4526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Сейчас: «Ваш разбор скоро будет готов»</a:t>
            </a:r>
            <a:endParaRPr lang="en-US" sz="1050" dirty="0"/>
          </a:p>
        </p:txBody>
      </p:sp>
      <p:sp>
        <p:nvSpPr>
          <p:cNvPr id="9" name="Text 5"/>
          <p:cNvSpPr txBox="1"/>
          <p:nvPr/>
        </p:nvSpPr>
        <p:spPr>
          <a:xfrm>
            <a:off x="4663440" y="4526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оплаты: её цветотип и палитра (проверено на тестовой героине)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Оплата Google: только $30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Проверили 26.10 в 00:09: для вашего аккаунта меньше нельзя.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129844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aistudio.google.com/apikey — аккаунт karminsoft, ключ «…qxKg»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292608" cy="29260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184708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строке ключа «Payment required» → страница Billing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239572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Красный блок «Prepay – AI Studio»: «add at least $30.00»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292608" cy="29260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971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294436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баланс, а не абонплата: тратится только на работу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520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" y="349300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возвращается и сгорает через 12 месяцев; Auto-reload: Off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3429000" cy="594360"/>
          </a:xfrm>
          <a:prstGeom prst="roundRect">
            <a:avLst>
              <a:gd name="adj" fmla="val 15385"/>
            </a:avLst>
          </a:prstGeom>
          <a:solidFill>
            <a:srgbClr val="FCEFD9"/>
          </a:solidFill>
          <a:ln w="12700">
            <a:solidFill>
              <a:srgbClr val="FCEFD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" y="414223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 ≈ 700 примерок ≈ 20+ клиенток, выбравших лимит полностью.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78808" y="1709052"/>
            <a:ext cx="4443984" cy="2571215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22" name="Image 0" descr="/mnt/user-data/attachments/0f6f79f4-524c-52dc-a6cd-3191363a22d6/9787bf0b-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736484"/>
            <a:ext cx="4389120" cy="251635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После оплаты: включить «выключатель»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Порядок, когда решите платить. Шаги дам по одному.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65760" cy="365760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30759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Положить $30 в Google (Auto-reload выключен)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365760" cy="36576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85623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→ Edge Functions → Secrets: GEMINI_PAID = 1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365760" cy="365760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40487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проверяет примерки на тестовой героине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365760" cy="36576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295351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покупаете Aru за $1 по коду SEMYA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365760" cy="365760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50215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Проходите путь с фото тестовой героини «Дана, 19» из Gemini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069080"/>
            <a:ext cx="365760" cy="36576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405079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Исправляем, что всплывёт → инструкция для клиенток → первые продажи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Страница управления (VIP, Kaspi)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mn-stilist.github.io/aru/admin/ — вход по коду администратора.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37490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нужна</a:t>
            </a:r>
            <a:endParaRPr lang="en-US" sz="1350" dirty="0"/>
          </a:p>
          <a:p>
            <a:pPr indent="0" marL="0">
              <a:buNone/>
            </a:pPr>
            <a:r>
              <a:rPr lang="en-US" sz="113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Клиентка договорилась с вами в WhatsApp и заплатила на Kaspi.</a:t>
            </a:r>
            <a:endParaRPr lang="en-US" sz="1350" dirty="0"/>
          </a:p>
          <a:p>
            <a:pPr indent="0" marL="0">
              <a:buNone/>
            </a:pPr>
            <a:r>
              <a:rPr lang="en-US" sz="5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делаете</a:t>
            </a:r>
            <a:endParaRPr lang="en-US" sz="1350" dirty="0"/>
          </a:p>
          <a:p>
            <a:pPr indent="0" marL="0">
              <a:buNone/>
            </a:pPr>
            <a:r>
              <a:rPr lang="en-US" sz="113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Почта, пароль, тариф, срок, число примерок, заметка → «Выдать доступ». Появится готовый текст для неё.</a:t>
            </a:r>
            <a:endParaRPr lang="en-US" sz="1350" dirty="0"/>
          </a:p>
          <a:p>
            <a:pPr indent="0" marL="0">
              <a:buNone/>
            </a:pPr>
            <a:r>
              <a:rPr lang="en-US" sz="5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Продление</a:t>
            </a:r>
            <a:endParaRPr lang="en-US" sz="1350" dirty="0"/>
          </a:p>
          <a:p>
            <a:pPr indent="0" marL="0">
              <a:buNone/>
            </a:pPr>
            <a:r>
              <a:rPr lang="en-US" sz="113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 же почта — срок прибавится к текущему.</a:t>
            </a:r>
            <a:endParaRPr lang="en-US" sz="1350" dirty="0"/>
          </a:p>
          <a:p>
            <a:pPr indent="0" marL="0">
              <a:buNone/>
            </a:pPr>
            <a:r>
              <a:rPr lang="en-US" sz="5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</a:t>
            </a:r>
            <a:endParaRPr lang="en-US" sz="1350" dirty="0"/>
          </a:p>
          <a:p>
            <a:pPr indent="0" marL="0">
              <a:buNone/>
            </a:pPr>
            <a:r>
              <a:rPr lang="en-US" sz="113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 почты — для клиентки, а не вход. Выход — кнопка «Выйти» справа вверху.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946904" y="1252728"/>
            <a:ext cx="3182112" cy="3529584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6" name="Image 0" descr="/tmp/claude-0/-home-claude/0f6f79f4-524c-52dc-a6cd-3191363a22d6/scratchpad/p6/ad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4336" y="1280160"/>
            <a:ext cx="3127248" cy="34747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Код администратора в Supabase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придуман вами и лежит в 98_Секреты, файл «Код админ-страницы Aru».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129844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→ проект aru → Edge Functions → слева «Secrets»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892808"/>
            <a:ext cx="292608" cy="29260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892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186537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ADMIN_CODE, Value: ваш код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459736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459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243230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Зелёная «Save» → в «Custom secrets» две строки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026664"/>
            <a:ext cx="292608" cy="29260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026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299923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GEMINI_API_KEY и ADMIN_CODE — всё на месте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593592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593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" y="356616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Урок: в адресе не должно быть лишней точки на конце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178808" y="1795591"/>
            <a:ext cx="4443984" cy="2398137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20" name="Image 0" descr="/mnt/user-data/attachments/0f6f79f4-524c-52dc-a6cd-3191363a22d6/69fd7aa8-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823023"/>
            <a:ext cx="4389120" cy="234327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Gemini: фото не идут на обучение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Отключили сохранение истории — для фото живых людей это обязательно.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129844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gemini.google.com → внизу меню «История»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892808"/>
            <a:ext cx="292608" cy="29260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892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186537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Страница «История действий в приложениях Gemini»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459736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459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243230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Кнопка «Включено» → «Отключить и удалить действия»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026664"/>
            <a:ext cx="292608" cy="29260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026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299923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«Удаление завершено» → OK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593592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593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" y="356616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Удачные картинки скачивать сразу — история не хранится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00377" y="1252728"/>
            <a:ext cx="2000846" cy="1696212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20" name="Image 0" descr="/mnt/user-data/attachments/0f6f79f4-524c-52dc-a6cd-3191363a22d6/5d2c3c9e-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27809" y="1280160"/>
            <a:ext cx="1945982" cy="1641348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5542450" y="3040380"/>
            <a:ext cx="1716700" cy="1696212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22" name="Image 1" descr="/mnt/user-data/attachments/0f6f79f4-524c-52dc-a6cd-3191363a22d6/29308bed-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9882" y="3067812"/>
            <a:ext cx="1661836" cy="16413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Instagram: aru.stilist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Бывший kazakhstantravel.guide переоформлен под Aru.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37490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</a:t>
            </a:r>
            <a:endParaRPr lang="en-US" sz="1350" dirty="0"/>
          </a:p>
          <a:p>
            <a:pPr indent="0" marL="0">
              <a:buNone/>
            </a:pPr>
            <a:r>
              <a:rPr lang="en-US" sz="113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Имя aru.stilist, аватар Aru, описание, ссылка на лендинг.</a:t>
            </a:r>
            <a:endParaRPr lang="en-US" sz="1350" dirty="0"/>
          </a:p>
          <a:p>
            <a:pPr indent="0" marL="0">
              <a:buNone/>
            </a:pPr>
            <a:r>
              <a:rPr lang="en-US" sz="5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«Заметка…» над аватаром</a:t>
            </a:r>
            <a:endParaRPr lang="en-US" sz="1350" dirty="0"/>
          </a:p>
          <a:p>
            <a:pPr indent="0" marL="0">
              <a:buNone/>
            </a:pPr>
            <a:r>
              <a:rPr lang="en-US" sz="113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Видна только вам. Гости её не видят.</a:t>
            </a:r>
            <a:endParaRPr lang="en-US" sz="1350" dirty="0"/>
          </a:p>
          <a:p>
            <a:pPr indent="0" marL="0">
              <a:buNone/>
            </a:pPr>
            <a:r>
              <a:rPr lang="en-US" sz="5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Квадратик в описании</a:t>
            </a:r>
            <a:endParaRPr lang="en-US" sz="1350" dirty="0"/>
          </a:p>
          <a:p>
            <a:pPr indent="0" marL="0">
              <a:buNone/>
            </a:pPr>
            <a:r>
              <a:rPr lang="en-US" sz="113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✨ — на компьютере не рисуется, на телефоне видно.</a:t>
            </a:r>
            <a:endParaRPr lang="en-US" sz="1350" dirty="0"/>
          </a:p>
          <a:p>
            <a:pPr indent="0" marL="0">
              <a:buNone/>
            </a:pPr>
            <a:r>
              <a:rPr lang="en-US" sz="5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</a:t>
            </a:r>
            <a:endParaRPr lang="en-US" sz="1350" dirty="0"/>
          </a:p>
          <a:p>
            <a:pPr indent="0" marL="0">
              <a:buNone/>
            </a:pPr>
            <a:r>
              <a:rPr lang="en-US" sz="113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Первые 6–9 постов из шоу-рума и причёсок, затем ролики-истории.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453128" y="2045838"/>
            <a:ext cx="4169664" cy="1943363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6" name="Image 0" descr="/mnt/user-data/attachments/0f6f79f4-524c-52dc-a6cd-3191363a22d6/be787133-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2073270"/>
            <a:ext cx="4114800" cy="188849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Видео: шоу-рум и презентация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3886200" cy="1508760"/>
          </a:xfrm>
          <a:prstGeom prst="roundRect">
            <a:avLst>
              <a:gd name="adj" fmla="val 6061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559052"/>
            <a:ext cx="493776" cy="493776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677924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98448" y="1124712"/>
            <a:ext cx="304495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истории для шоу-рума</a:t>
            </a:r>
            <a:endParaRPr lang="en-US" sz="1300" dirty="0"/>
          </a:p>
          <a:p>
            <a:pPr indent="0" marL="0">
              <a:buNone/>
            </a:pPr>
            <a:r>
              <a:rPr lang="en-US" sz="108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 «Шоу-рум_сценарии_видео.docx»: «серое зеркало» → образы → то же зеркало с улыбкой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617720" y="1051560"/>
            <a:ext cx="3886200" cy="1508760"/>
          </a:xfrm>
          <a:prstGeom prst="roundRect">
            <a:avLst>
              <a:gd name="adj" fmla="val 6061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754880" y="1559052"/>
            <a:ext cx="493776" cy="493776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167792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367528" y="1124712"/>
            <a:ext cx="304495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Голос</a:t>
            </a:r>
            <a:endParaRPr lang="en-US" sz="1300" dirty="0"/>
          </a:p>
          <a:p>
            <a:pPr indent="0" marL="0">
              <a:buNone/>
            </a:pPr>
            <a:r>
              <a:rPr lang="en-US" sz="108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озвучивает по-русски (пробы Бибигуль и Елены); казахский — нет, лучше живой голос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2715768"/>
            <a:ext cx="3886200" cy="1508760"/>
          </a:xfrm>
          <a:prstGeom prst="roundRect">
            <a:avLst>
              <a:gd name="adj" fmla="val 6061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85800" y="3223260"/>
            <a:ext cx="493776" cy="493776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342132"/>
            <a:ext cx="256032" cy="2560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98448" y="2788920"/>
            <a:ext cx="304495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Видеопрезентация 2 мин</a:t>
            </a:r>
            <a:endParaRPr lang="en-US" sz="1300" dirty="0"/>
          </a:p>
          <a:p>
            <a:pPr indent="0" marL="0">
              <a:buNone/>
            </a:pPr>
            <a:r>
              <a:rPr lang="en-US" sz="108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«Aru_видеопрезентация_сценарий.docx»: ваш голос + запись экрана, горизонтально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617720" y="2715768"/>
            <a:ext cx="3886200" cy="1508760"/>
          </a:xfrm>
          <a:prstGeom prst="roundRect">
            <a:avLst>
              <a:gd name="adj" fmla="val 6061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754880" y="3223260"/>
            <a:ext cx="493776" cy="493776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3342132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367528" y="2788920"/>
            <a:ext cx="304495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Музыка</a:t>
            </a:r>
            <a:endParaRPr lang="en-US" sz="1300" dirty="0"/>
          </a:p>
          <a:p>
            <a:pPr indent="0" marL="0">
              <a:buNone/>
            </a:pPr>
            <a:r>
              <a:rPr lang="en-US" sz="108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Добавляется при загрузке на YouTube / Instagram из их библиотеки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Куда сохранить новые файлы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374904"/>
          </a:xfrm>
          <a:prstGeom prst="roundRect">
            <a:avLst>
              <a:gd name="adj" fmla="val 24390"/>
            </a:avLst>
          </a:prstGeom>
          <a:solidFill>
            <a:srgbClr val="F7E6EC"/>
          </a:solidFill>
          <a:ln w="12700">
            <a:solidFill>
              <a:srgbClr val="F1E2E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88720"/>
            <a:ext cx="201168" cy="1828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05840" y="1097280"/>
            <a:ext cx="31089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01_Протоколы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4114800" y="1097280"/>
            <a:ext cx="4389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06_2026-10-26_Причёски-путь-клиентки-тарифы (этот протокол)</a:t>
            </a:r>
            <a:endParaRPr lang="en-US" sz="1080" dirty="0"/>
          </a:p>
        </p:txBody>
      </p:sp>
      <p:sp>
        <p:nvSpPr>
          <p:cNvPr id="7" name="Shape 4"/>
          <p:cNvSpPr/>
          <p:nvPr/>
        </p:nvSpPr>
        <p:spPr>
          <a:xfrm>
            <a:off x="548640" y="1527048"/>
            <a:ext cx="8046720" cy="374904"/>
          </a:xfrm>
          <a:prstGeom prst="roundRect">
            <a:avLst>
              <a:gd name="adj" fmla="val 24390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18488"/>
            <a:ext cx="201168" cy="1828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05840" y="1527048"/>
            <a:ext cx="31089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02_Архивы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4114800" y="1527048"/>
            <a:ext cx="4389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Aru_archive_v0.5_2026-10-26 (zip)</a:t>
            </a:r>
            <a:endParaRPr lang="en-US" sz="1080" dirty="0"/>
          </a:p>
        </p:txBody>
      </p:sp>
      <p:sp>
        <p:nvSpPr>
          <p:cNvPr id="11" name="Shape 7"/>
          <p:cNvSpPr/>
          <p:nvPr/>
        </p:nvSpPr>
        <p:spPr>
          <a:xfrm>
            <a:off x="548640" y="1956816"/>
            <a:ext cx="8046720" cy="374904"/>
          </a:xfrm>
          <a:prstGeom prst="roundRect">
            <a:avLst>
              <a:gd name="adj" fmla="val 24390"/>
            </a:avLst>
          </a:prstGeom>
          <a:solidFill>
            <a:srgbClr val="F7E6EC"/>
          </a:solidFill>
          <a:ln w="12700">
            <a:solidFill>
              <a:srgbClr val="F1E2E8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48256"/>
            <a:ext cx="201168" cy="1828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05840" y="1956816"/>
            <a:ext cx="31089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04_Демо-клиентки\Айгерим\Причёски</a:t>
            </a:r>
            <a:endParaRPr lang="en-US" sz="1150" dirty="0"/>
          </a:p>
        </p:txBody>
      </p:sp>
      <p:sp>
        <p:nvSpPr>
          <p:cNvPr id="14" name="Text 9"/>
          <p:cNvSpPr txBox="1"/>
          <p:nvPr/>
        </p:nvSpPr>
        <p:spPr>
          <a:xfrm>
            <a:off x="4114800" y="1956816"/>
            <a:ext cx="4389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причёсок Айгерим + Айгерим_промпты_ПРИЧЁСКИ.docx</a:t>
            </a:r>
            <a:endParaRPr lang="en-US" sz="1080" dirty="0"/>
          </a:p>
        </p:txBody>
      </p:sp>
      <p:sp>
        <p:nvSpPr>
          <p:cNvPr id="15" name="Shape 10"/>
          <p:cNvSpPr/>
          <p:nvPr/>
        </p:nvSpPr>
        <p:spPr>
          <a:xfrm>
            <a:off x="548640" y="2386584"/>
            <a:ext cx="8046720" cy="374904"/>
          </a:xfrm>
          <a:prstGeom prst="roundRect">
            <a:avLst>
              <a:gd name="adj" fmla="val 24390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478024"/>
            <a:ext cx="201168" cy="1828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05840" y="2386584"/>
            <a:ext cx="31089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04_Демо-клиентки\Елена</a:t>
            </a:r>
            <a:endParaRPr lang="en-US" sz="1150" dirty="0"/>
          </a:p>
        </p:txBody>
      </p:sp>
      <p:sp>
        <p:nvSpPr>
          <p:cNvPr id="18" name="Text 12"/>
          <p:cNvSpPr txBox="1"/>
          <p:nvPr/>
        </p:nvSpPr>
        <p:spPr>
          <a:xfrm>
            <a:off x="4114800" y="2386584"/>
            <a:ext cx="4389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Елена_промпты_ПРИЧЁСКИ.docx + фото</a:t>
            </a:r>
            <a:endParaRPr lang="en-US" sz="1080" dirty="0"/>
          </a:p>
        </p:txBody>
      </p:sp>
      <p:sp>
        <p:nvSpPr>
          <p:cNvPr id="19" name="Shape 13"/>
          <p:cNvSpPr/>
          <p:nvPr/>
        </p:nvSpPr>
        <p:spPr>
          <a:xfrm>
            <a:off x="548640" y="2816352"/>
            <a:ext cx="8046720" cy="374904"/>
          </a:xfrm>
          <a:prstGeom prst="roundRect">
            <a:avLst>
              <a:gd name="adj" fmla="val 24390"/>
            </a:avLst>
          </a:prstGeom>
          <a:solidFill>
            <a:srgbClr val="F7E6EC"/>
          </a:solidFill>
          <a:ln w="12700">
            <a:solidFill>
              <a:srgbClr val="F1E2E8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907792"/>
            <a:ext cx="201168" cy="18288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005840" y="2816352"/>
            <a:ext cx="31089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04_Демо-клиентки\Тест_Дана</a:t>
            </a:r>
            <a:endParaRPr lang="en-US" sz="1150" dirty="0"/>
          </a:p>
        </p:txBody>
      </p:sp>
      <p:sp>
        <p:nvSpPr>
          <p:cNvPr id="22" name="Text 15"/>
          <p:cNvSpPr txBox="1"/>
          <p:nvPr/>
        </p:nvSpPr>
        <p:spPr>
          <a:xfrm>
            <a:off x="4114800" y="2816352"/>
            <a:ext cx="4389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НОВАЯ: 2 фото тестовой героини 19 лет (сделать в Gemini)</a:t>
            </a:r>
            <a:endParaRPr lang="en-US" sz="1080" dirty="0"/>
          </a:p>
        </p:txBody>
      </p:sp>
      <p:sp>
        <p:nvSpPr>
          <p:cNvPr id="23" name="Shape 16"/>
          <p:cNvSpPr/>
          <p:nvPr/>
        </p:nvSpPr>
        <p:spPr>
          <a:xfrm>
            <a:off x="548640" y="3246120"/>
            <a:ext cx="8046720" cy="374904"/>
          </a:xfrm>
          <a:prstGeom prst="roundRect">
            <a:avLst>
              <a:gd name="adj" fmla="val 24390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337560"/>
            <a:ext cx="201168" cy="18288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005840" y="3246120"/>
            <a:ext cx="31089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06_Продвижение</a:t>
            </a:r>
            <a:endParaRPr lang="en-US" sz="1150" dirty="0"/>
          </a:p>
        </p:txBody>
      </p:sp>
      <p:sp>
        <p:nvSpPr>
          <p:cNvPr id="26" name="Text 18"/>
          <p:cNvSpPr txBox="1"/>
          <p:nvPr/>
        </p:nvSpPr>
        <p:spPr>
          <a:xfrm>
            <a:off x="4114800" y="3246120"/>
            <a:ext cx="4389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Аватар, сценарии видео, опорные кадры, видеопрезентация</a:t>
            </a:r>
            <a:endParaRPr lang="en-US" sz="1080" dirty="0"/>
          </a:p>
        </p:txBody>
      </p:sp>
      <p:sp>
        <p:nvSpPr>
          <p:cNvPr id="27" name="Shape 19"/>
          <p:cNvSpPr/>
          <p:nvPr/>
        </p:nvSpPr>
        <p:spPr>
          <a:xfrm>
            <a:off x="548640" y="3675888"/>
            <a:ext cx="8046720" cy="374904"/>
          </a:xfrm>
          <a:prstGeom prst="roundRect">
            <a:avLst>
              <a:gd name="adj" fmla="val 24390"/>
            </a:avLst>
          </a:prstGeom>
          <a:solidFill>
            <a:srgbClr val="F7E6EC"/>
          </a:solidFill>
          <a:ln w="12700">
            <a:solidFill>
              <a:srgbClr val="F1E2E8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767328"/>
            <a:ext cx="201168" cy="182880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1005840" y="3675888"/>
            <a:ext cx="31089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98_Секреты</a:t>
            </a:r>
            <a:endParaRPr lang="en-US" sz="1150" dirty="0"/>
          </a:p>
        </p:txBody>
      </p:sp>
      <p:sp>
        <p:nvSpPr>
          <p:cNvPr id="30" name="Text 21"/>
          <p:cNvSpPr txBox="1"/>
          <p:nvPr/>
        </p:nvSpPr>
        <p:spPr>
          <a:xfrm>
            <a:off x="4114800" y="3675888"/>
            <a:ext cx="4389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админ-страницы Aru (уже лежит)</a:t>
            </a:r>
            <a:endParaRPr lang="en-US" sz="1080" dirty="0"/>
          </a:p>
        </p:txBody>
      </p:sp>
      <p:sp>
        <p:nvSpPr>
          <p:cNvPr id="31" name="Shape 22"/>
          <p:cNvSpPr/>
          <p:nvPr/>
        </p:nvSpPr>
        <p:spPr>
          <a:xfrm>
            <a:off x="548640" y="4105656"/>
            <a:ext cx="8046720" cy="374904"/>
          </a:xfrm>
          <a:prstGeom prst="roundRect">
            <a:avLst>
              <a:gd name="adj" fmla="val 24390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4197096"/>
            <a:ext cx="201168" cy="182880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1005840" y="4105656"/>
            <a:ext cx="31089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Мира (личное)</a:t>
            </a:r>
            <a:endParaRPr lang="en-US" sz="1150" dirty="0"/>
          </a:p>
        </p:txBody>
      </p:sp>
      <p:sp>
        <p:nvSpPr>
          <p:cNvPr id="34" name="Text 24"/>
          <p:cNvSpPr txBox="1"/>
          <p:nvPr/>
        </p:nvSpPr>
        <p:spPr>
          <a:xfrm>
            <a:off x="4114800" y="4105656"/>
            <a:ext cx="4389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Её фото и промпты — не в проект, отдельно у вас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Уроки этапа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3886200" cy="914400"/>
          </a:xfrm>
          <a:prstGeom prst="roundRect">
            <a:avLst>
              <a:gd name="adj" fmla="val 10000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261872"/>
            <a:ext cx="493776" cy="493776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380744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98448" y="1124712"/>
            <a:ext cx="30449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шаг за раз</a:t>
            </a:r>
            <a:endParaRPr lang="en-US" sz="1300" dirty="0"/>
          </a:p>
          <a:p>
            <a:pPr indent="0" marL="0">
              <a:buNone/>
            </a:pPr>
            <a:r>
              <a:rPr lang="en-US" sz="108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Особенно когда сервис «выбивает» — Supabase, Gemini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617720" y="1051560"/>
            <a:ext cx="3886200" cy="914400"/>
          </a:xfrm>
          <a:prstGeom prst="roundRect">
            <a:avLst>
              <a:gd name="adj" fmla="val 10000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754880" y="1261872"/>
            <a:ext cx="493776" cy="493776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138074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367528" y="1124712"/>
            <a:ext cx="30449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Промпты — в Word</a:t>
            </a:r>
            <a:endParaRPr lang="en-US" sz="1300" dirty="0"/>
          </a:p>
          <a:p>
            <a:pPr indent="0" marL="0">
              <a:buNone/>
            </a:pPr>
            <a:r>
              <a:rPr lang="en-US" sz="108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Блокнот склеивает текст; один промпт на страницу, серый блок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2121408"/>
            <a:ext cx="3886200" cy="914400"/>
          </a:xfrm>
          <a:prstGeom prst="roundRect">
            <a:avLst>
              <a:gd name="adj" fmla="val 10000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85800" y="2331720"/>
            <a:ext cx="493776" cy="493776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450592"/>
            <a:ext cx="256032" cy="2560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98448" y="2194560"/>
            <a:ext cx="30449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Лицо важнее одежды</a:t>
            </a:r>
            <a:endParaRPr lang="en-US" sz="1300" dirty="0"/>
          </a:p>
          <a:p>
            <a:pPr indent="0" marL="0">
              <a:buNone/>
            </a:pPr>
            <a:r>
              <a:rPr lang="en-US" sz="108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Крупный кадр лица, «то же лицо» первой фразой, без «омолодить»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617720" y="2121408"/>
            <a:ext cx="3886200" cy="914400"/>
          </a:xfrm>
          <a:prstGeom prst="roundRect">
            <a:avLst>
              <a:gd name="adj" fmla="val 10000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754880" y="2331720"/>
            <a:ext cx="493776" cy="493776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2450592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367528" y="2194560"/>
            <a:ext cx="30449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Архив для Windows 7</a:t>
            </a:r>
            <a:endParaRPr lang="en-US" sz="1300" dirty="0"/>
          </a:p>
          <a:p>
            <a:pPr indent="0" marL="0">
              <a:buNone/>
            </a:pPr>
            <a:r>
              <a:rPr lang="en-US" sz="108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Русские имена внутри zip — в старой кодировке; файлы перетаскивать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548640" y="3191256"/>
            <a:ext cx="3886200" cy="914400"/>
          </a:xfrm>
          <a:prstGeom prst="roundRect">
            <a:avLst>
              <a:gd name="adj" fmla="val 10000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85800" y="3401568"/>
            <a:ext cx="493776" cy="493776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3520440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298448" y="3264408"/>
            <a:ext cx="30449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Честные обещания</a:t>
            </a:r>
            <a:endParaRPr lang="en-US" sz="1300" dirty="0"/>
          </a:p>
          <a:p>
            <a:pPr indent="0" marL="0">
              <a:buNone/>
            </a:pPr>
            <a:r>
              <a:rPr lang="en-US" sz="108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Лендинг обещает только то, что Aru реально умеет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4617720" y="3191256"/>
            <a:ext cx="3886200" cy="914400"/>
          </a:xfrm>
          <a:prstGeom prst="roundRect">
            <a:avLst>
              <a:gd name="adj" fmla="val 10000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4754880" y="3401568"/>
            <a:ext cx="493776" cy="493776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3520440"/>
            <a:ext cx="256032" cy="256032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367528" y="3264408"/>
            <a:ext cx="30449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Эмоция = превращение</a:t>
            </a:r>
            <a:endParaRPr lang="en-US" sz="1300" dirty="0"/>
          </a:p>
          <a:p>
            <a:pPr indent="0" marL="0">
              <a:buNone/>
            </a:pPr>
            <a:r>
              <a:rPr lang="en-US" sz="108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Ползунок и истории от первого лица сильнее описаний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дальше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48640" y="1033272"/>
            <a:ext cx="329184" cy="329184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33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0058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Номер WhatsApp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00584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кнопки в окне VIP (за вами)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490472"/>
            <a:ext cx="329184" cy="329184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490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14630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 шоу-рума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146304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Елена: 3 куска в Gemini → Claude собирает ролик с голосом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1947672"/>
            <a:ext cx="329184" cy="329184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1947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19202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Видеопрезентация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192024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правите текст и записываете голос → Claude собирает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404872"/>
            <a:ext cx="329184" cy="329184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404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23774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291840" y="237744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первые 6–9 постов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2862072"/>
            <a:ext cx="329184" cy="329184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2862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28346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«Что внутри»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3291840" y="283464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решить: убрать «Проверь вещь», «Гардероб», «Чат» до доработки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3319272"/>
            <a:ext cx="329184" cy="329184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3319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005840" y="32918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 в Google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3291840" y="329184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решите → GEMINI_PAID → тест за $1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3776472"/>
            <a:ext cx="329184" cy="329184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3776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005840" y="37490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Инструкция клиенткам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3291840" y="374904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 снимками настоящего пути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4233672"/>
            <a:ext cx="329184" cy="329184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8640" y="4233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005840" y="42062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Чат-стилист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3291840" y="420624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решить по первым клиенткам: Стандарт или VIP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u">
  <a:themeElements>
    <a:clrScheme name="Aru">
      <a:dk1>
        <a:srgbClr val="2B1A22"/>
      </a:dk1>
      <a:lt1>
        <a:srgbClr val="FFFFFF"/>
      </a:lt1>
      <a:dk2>
        <a:srgbClr val="6D2E46"/>
      </a:dk2>
      <a:lt2>
        <a:srgbClr val="F7E6EC"/>
      </a:lt2>
      <a:accent1>
        <a:srgbClr val="C2456E"/>
      </a:accent1>
      <a:accent2>
        <a:srgbClr val="6D2E46"/>
      </a:accent2>
      <a:accent3>
        <a:srgbClr val="D9A441"/>
      </a:accent3>
      <a:accent4>
        <a:srgbClr val="A26769"/>
      </a:accent4>
      <a:accent5>
        <a:srgbClr val="8E6C88"/>
      </a:accent5>
      <a:accent6>
        <a:srgbClr val="3E8A68"/>
      </a:accent6>
      <a:hlink>
        <a:srgbClr val="C2456E"/>
      </a:hlink>
      <a:folHlink>
        <a:srgbClr val="6D2E46"/>
      </a:folHlink>
    </a:clrScheme>
    <a:fontScheme name="Aru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Протокол №6 — Причёски, настоящий путь клиентки, тарифы, шоу-рум</dc:title>
  <dc:subject>PptxGenJS Presentation</dc:subject>
  <dc:creator>Проект Aru</dc:creator>
  <cp:lastModifiedBy>Проект Aru</cp:lastModifiedBy>
  <cp:revision>1</cp:revision>
  <dcterms:created xsi:type="dcterms:W3CDTF">2026-10-25T23:10:43Z</dcterms:created>
  <dcterms:modified xsi:type="dcterms:W3CDTF">2026-10-25T23:10:43Z</dcterms:modified>
</cp:coreProperties>
</file>